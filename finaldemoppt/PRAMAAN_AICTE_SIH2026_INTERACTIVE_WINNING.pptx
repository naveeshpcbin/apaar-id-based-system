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brainforge.info" TargetMode="External"/><Relationship Id="rId5" Type="http://schemas.openxmlformats.org/officeDocument/2006/relationships/hyperlink" Target="https://apaar-id-based-system.onrender.com/docs" TargetMode="External"/><Relationship Id="rId6" Type="http://schemas.openxmlformats.org/officeDocument/2006/relationships/hyperlink" Target="https://github.com/naveeshpcbin/APAAR-ID-BASED-SYSTEM" TargetMode="External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7.png"/><Relationship Id="rId12" Type="http://schemas.openxmlformats.org/officeDocument/2006/relationships/image" Target="../media/image8.png"/><Relationship Id="rId13" Type="http://schemas.openxmlformats.org/officeDocument/2006/relationships/image" Target="../media/image9.png"/><Relationship Id="rId14" Type="http://schemas.openxmlformats.org/officeDocument/2006/relationships/image" Target="../media/image10.png"/><Relationship Id="rId15" Type="http://schemas.openxmlformats.org/officeDocument/2006/relationships/image" Target="../media/image11.png"/><Relationship Id="rId16" Type="http://schemas.openxmlformats.org/officeDocument/2006/relationships/image" Target="../media/image12.png"/><Relationship Id="rId17" Type="http://schemas.openxmlformats.org/officeDocument/2006/relationships/image" Target="../media/image13.png"/><Relationship Id="rId18" Type="http://schemas.openxmlformats.org/officeDocument/2006/relationships/image" Target="../media/image14.png"/><Relationship Id="rId19" Type="http://schemas.openxmlformats.org/officeDocument/2006/relationships/image" Target="../media/image15.png"/><Relationship Id="rId20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3.png"/><Relationship Id="rId6" Type="http://schemas.openxmlformats.org/officeDocument/2006/relationships/hyperlink" Target="https://brainforge.info" TargetMode="External"/><Relationship Id="rId7" Type="http://schemas.openxmlformats.org/officeDocument/2006/relationships/hyperlink" Target="https://pramaan.brainforge.inf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8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4.png"/><Relationship Id="rId14" Type="http://schemas.openxmlformats.org/officeDocument/2006/relationships/image" Target="../media/image13.png"/><Relationship Id="rId15" Type="http://schemas.openxmlformats.org/officeDocument/2006/relationships/image" Target="../media/image18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apaar-id-based-system.onrender.com/docs" TargetMode="External"/><Relationship Id="rId5" Type="http://schemas.openxmlformats.org/officeDocument/2006/relationships/hyperlink" Target="https://brainforge.inf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brainforge.info" TargetMode="External"/><Relationship Id="rId5" Type="http://schemas.openxmlformats.org/officeDocument/2006/relationships/hyperlink" Target="https://apaar-id-based-system.onrender.com/docs" TargetMode="External"/><Relationship Id="rId6" Type="http://schemas.openxmlformats.org/officeDocument/2006/relationships/hyperlink" Target="https://pramaan.brainforge.info" TargetMode="External"/><Relationship Id="rId7" Type="http://schemas.openxmlformats.org/officeDocument/2006/relationships/hyperlink" Target="https://github.com/naveeshpcbin/APAAR-ID-BASED-SYSTEM" TargetMode="External"/><Relationship Id="rId8" Type="http://schemas.openxmlformats.org/officeDocument/2006/relationships/image" Target="../media/image3.png"/><Relationship Id="rId9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65760" y="841248"/>
            <a:ext cx="5943600" cy="320040"/>
          </a:xfrm>
        </p:spPr>
        <p:txBody>
          <a:bodyPr wrap="square"/>
          <a:lstStyle/>
          <a:p>
            <a:pPr algn="l">
              <a:defRPr sz="1350" b="1">
                <a:solidFill>
                  <a:srgbClr val="008C6E"/>
                </a:solidFill>
                <a:latin typeface="Arial"/>
              </a:defRPr>
            </a:pPr>
            <a:r>
              <a:t>TITLE PAGE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65760" y="164592"/>
            <a:ext cx="9326880" cy="731520"/>
          </a:xfrm>
        </p:spPr>
        <p:txBody>
          <a:bodyPr wrap="square"/>
          <a:lstStyle/>
          <a:p>
            <a:pPr algn="l">
              <a:defRPr sz="2700" b="1">
                <a:solidFill>
                  <a:srgbClr val="112266"/>
                </a:solidFill>
                <a:latin typeface="Arial"/>
              </a:defRPr>
            </a:pPr>
            <a: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1234440"/>
            <a:ext cx="6583680" cy="4069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Problem Statement ID: </a:t>
            </a:r>
            <a:r>
              <a:rPr sz="1250" b="1">
                <a:solidFill>
                  <a:srgbClr val="112266"/>
                </a:solidFill>
                <a:latin typeface="Arial"/>
              </a:rPr>
              <a:t>SIH26263</a:t>
            </a:r>
            <a:endParaRPr lang="en-US" dirty="0"/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Problem Statement Title: </a:t>
            </a:r>
            <a:r>
              <a:rPr sz="1050" b="0">
                <a:solidFill>
                  <a:srgbClr val="1A365D"/>
                </a:solidFill>
                <a:latin typeface="Arial"/>
              </a:rPr>
              <a:t>Development of an APAAR ID-Based Student Data Management and Verification Platform for AICTE-Approved Institutions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Theme: </a:t>
            </a:r>
            <a:r>
              <a:rPr sz="1050" b="0">
                <a:solidFill>
                  <a:srgbClr val="222222"/>
                </a:solidFill>
                <a:latin typeface="Arial"/>
              </a:rPr>
              <a:t>Smart Automation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PS Category: </a:t>
            </a:r>
            <a:r>
              <a:rPr sz="1050" b="0">
                <a:solidFill>
                  <a:srgbClr val="222222"/>
                </a:solidFill>
                <a:latin typeface="Arial"/>
              </a:rPr>
              <a:t>Software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Team ID: </a:t>
            </a:r>
            <a:r>
              <a:rPr sz="1050" b="0">
                <a:solidFill>
                  <a:srgbClr val="222222"/>
                </a:solidFill>
                <a:latin typeface="Arial"/>
              </a:rPr>
              <a:t>TCE_Yquanto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Team Name: </a:t>
            </a:r>
            <a:r>
              <a:rPr sz="1100" b="1">
                <a:solidFill>
                  <a:srgbClr val="112266"/>
                </a:solidFill>
                <a:latin typeface="Arial"/>
              </a:rPr>
              <a:t>TCE_Yquanto (Thiagarajar College of Engineering, Madurai)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Institute Name: </a:t>
            </a:r>
            <a:r>
              <a:rPr sz="1050" b="0">
                <a:solidFill>
                  <a:srgbClr val="1A365D"/>
                </a:solidFill>
                <a:latin typeface="Arial"/>
              </a:rPr>
              <a:t>Thiagarajar College of Engineering, Madurai, Tamil Nadu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Live Web Platform: </a:t>
            </a:r>
            <a:r>
              <a:rPr sz="1000" b="1">
                <a:solidFill>
                  <a:srgbClr val="008C6E"/>
                </a:solidFill>
                <a:latin typeface="Arial"/>
                <a:hlinkClick r:id="rId4"/>
              </a:rPr>
              <a:t>https://brainforge.info  |  https://pramaan.brainforge.info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Live Backend &amp; API: </a:t>
            </a:r>
            <a:r>
              <a:rPr sz="1000" b="1">
                <a:solidFill>
                  <a:srgbClr val="008C6E"/>
                </a:solidFill>
                <a:latin typeface="Arial"/>
                <a:hlinkClick r:id="rId5"/>
              </a:rPr>
              <a:t>https://apaar-id-based-system.onrender.com/docs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Source Repository: </a:t>
            </a:r>
            <a:r>
              <a:rPr sz="1000" b="1">
                <a:solidFill>
                  <a:srgbClr val="1A56DB"/>
                </a:solidFill>
                <a:latin typeface="Arial"/>
                <a:hlinkClick r:id="rId6"/>
              </a:rPr>
              <a:t>https://github.com/naveeshpcbin/APAAR-ID-BASED-SYSTEM</a:t>
            </a:r>
          </a:p>
          <a:p>
            <a:pPr>
              <a:spcBef>
                <a:spcPts val="300"/>
              </a:spcBef>
            </a:pPr>
            <a:r>
              <a:rPr sz="1019" b="1">
                <a:solidFill>
                  <a:srgbClr val="112266"/>
                </a:solidFill>
                <a:latin typeface="Arial"/>
              </a:rPr>
              <a:t>Verification Status: </a:t>
            </a:r>
            <a:r>
              <a:rPr sz="1000" b="1">
                <a:solidFill>
                  <a:srgbClr val="008C6E"/>
                </a:solidFill>
                <a:latin typeface="Arial"/>
              </a:rPr>
              <a:t>66/66 Passing Tests | 20 Tables with RLS | Live Cloud Verified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692640" y="1280160"/>
            <a:ext cx="2103120" cy="39319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qrcode_brainfor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463040"/>
            <a:ext cx="1645920" cy="1645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784080" y="320040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12266"/>
                </a:solidFill>
                <a:latin typeface="Arial"/>
              </a:defRPr>
            </a:pPr>
            <a:r>
              <a:t>SCAN OR CLICK</a:t>
            </a:r>
          </a:p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t>FOR LIVE PROTOTYPE</a:t>
            </a:r>
          </a:p>
          <a:p>
            <a:pPr algn="ctr">
              <a:spcBef>
                <a:spcPts val="400"/>
              </a:spcBef>
            </a:pPr>
            <a:r>
              <a:rPr sz="950" b="1">
                <a:solidFill>
                  <a:srgbClr val="1A56DB"/>
                </a:solidFill>
                <a:latin typeface="Arial"/>
                <a:hlinkClick r:id="rId4"/>
              </a:rPr>
              <a:t>brainforge.info ↗</a:t>
            </a:r>
          </a:p>
          <a:p>
            <a:pPr algn="ctr">
              <a:spcBef>
                <a:spcPts val="200"/>
              </a:spcBef>
              <a:defRPr sz="720">
                <a:solidFill>
                  <a:srgbClr val="64748B"/>
                </a:solidFill>
                <a:latin typeface="Arial"/>
              </a:defRPr>
            </a:pPr>
            <a:r>
              <a:t>Deployed on Vercel Edge with Let's Encrypt SSL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394960"/>
            <a:ext cx="11430000" cy="8686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" y="5285232"/>
            <a:ext cx="2194560" cy="219456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ENTERPRISE TECH STACK</a:t>
            </a:r>
          </a:p>
        </p:txBody>
      </p:sp>
      <p:pic>
        <p:nvPicPr>
          <p:cNvPr id="43" name="Picture 42" descr="nextj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" y="5532120"/>
            <a:ext cx="365760" cy="3657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02920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Next.js 14</a:t>
            </a:r>
          </a:p>
        </p:txBody>
      </p:sp>
      <p:pic>
        <p:nvPicPr>
          <p:cNvPr id="45" name="Picture 44" descr="reac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2217" y="5532120"/>
            <a:ext cx="365760" cy="36576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361049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React 18</a:t>
            </a:r>
          </a:p>
        </p:txBody>
      </p:sp>
      <p:pic>
        <p:nvPicPr>
          <p:cNvPr id="47" name="Picture 46" descr="typescrip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0346" y="5532120"/>
            <a:ext cx="365760" cy="3657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219178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TypeScript</a:t>
            </a:r>
          </a:p>
        </p:txBody>
      </p:sp>
      <p:pic>
        <p:nvPicPr>
          <p:cNvPr id="49" name="Picture 48" descr="tailwindc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8475" y="5532120"/>
            <a:ext cx="365760" cy="36576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077307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Tailwind</a:t>
            </a:r>
          </a:p>
        </p:txBody>
      </p:sp>
      <p:pic>
        <p:nvPicPr>
          <p:cNvPr id="51" name="Picture 50" descr="nodej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604" y="5532120"/>
            <a:ext cx="365760" cy="36576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935436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Node.js</a:t>
            </a:r>
          </a:p>
        </p:txBody>
      </p:sp>
      <p:pic>
        <p:nvPicPr>
          <p:cNvPr id="53" name="Picture 52" descr="pyth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94734" y="5532120"/>
            <a:ext cx="365760" cy="36576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4793566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Python 3.10</a:t>
            </a:r>
          </a:p>
        </p:txBody>
      </p:sp>
      <p:pic>
        <p:nvPicPr>
          <p:cNvPr id="55" name="Picture 54" descr="fastapi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52863" y="5532120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651695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FastAPI</a:t>
            </a:r>
          </a:p>
        </p:txBody>
      </p:sp>
      <p:pic>
        <p:nvPicPr>
          <p:cNvPr id="57" name="Picture 56" descr="postgresql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10992" y="5532120"/>
            <a:ext cx="365760" cy="36576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509824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PostgreSQL 17</a:t>
            </a:r>
          </a:p>
        </p:txBody>
      </p:sp>
      <p:pic>
        <p:nvPicPr>
          <p:cNvPr id="59" name="Picture 58" descr="supabas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69121" y="5532120"/>
            <a:ext cx="365760" cy="36576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367953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Supabase</a:t>
            </a:r>
          </a:p>
        </p:txBody>
      </p:sp>
      <p:pic>
        <p:nvPicPr>
          <p:cNvPr id="61" name="Picture 60" descr="vercel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27251" y="5532120"/>
            <a:ext cx="365760" cy="3657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226083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Vercel Edge</a:t>
            </a:r>
          </a:p>
        </p:txBody>
      </p:sp>
      <p:pic>
        <p:nvPicPr>
          <p:cNvPr id="63" name="Picture 62" descr="render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85380" y="5532120"/>
            <a:ext cx="365760" cy="3657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084212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Render Cloud</a:t>
            </a:r>
          </a:p>
        </p:txBody>
      </p:sp>
      <p:pic>
        <p:nvPicPr>
          <p:cNvPr id="65" name="Picture 64" descr="docker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43509" y="5532120"/>
            <a:ext cx="365760" cy="36576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942341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Docker</a:t>
            </a:r>
          </a:p>
        </p:txBody>
      </p:sp>
      <p:pic>
        <p:nvPicPr>
          <p:cNvPr id="67" name="Picture 66" descr="github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01638" y="5532120"/>
            <a:ext cx="365760" cy="3657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470" y="5925312"/>
            <a:ext cx="85812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680" b="1">
                <a:solidFill>
                  <a:srgbClr val="1A365D"/>
                </a:solidFill>
                <a:latin typeface="Arial"/>
              </a:defRPr>
            </a:pPr>
            <a:r>
              <a:t>GitHub CI/CD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0" y="6419088"/>
            <a:ext cx="6702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0" y="6419088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92440" cy="77724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112266"/>
                </a:solidFill>
                <a:latin typeface="Arial"/>
              </a:defRPr>
            </a:pPr>
            <a:r>
              <a:t>P R A M A A N - A I C T E (Student Data &amp; Verification Platform)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008C6E"/>
                </a:solidFill>
                <a:latin typeface="Arial"/>
              </a:defRPr>
            </a:pPr>
            <a:r>
              <a:t>ARCHITECTURE - Innovation (Problem Existing vs Proposed Solution vs UVP)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419088"/>
            <a:ext cx="1645920" cy="329184"/>
          </a:xfrm>
        </p:spPr>
        <p:txBody>
          <a:bodyPr/>
          <a:lstStyle/>
          <a:p>
            <a:pPr algn="r">
              <a:defRPr sz="95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419088"/>
            <a:ext cx="6702552" cy="329184"/>
          </a:xfrm>
        </p:spPr>
        <p:txBody>
          <a:bodyPr/>
          <a:lstStyle/>
          <a:p>
            <a:pPr algn="ctr">
              <a:defRPr sz="95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37160"/>
            <a:ext cx="1325880" cy="65836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051560"/>
            <a:ext cx="5623560" cy="11155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475488" y="941832"/>
            <a:ext cx="2011680" cy="219456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PROBLEM EXISTING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02920" y="1170432"/>
            <a:ext cx="5349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Fragmented Institutional Data : </a:t>
            </a:r>
            <a:r>
              <a:rPr sz="780">
                <a:solidFill>
                  <a:srgbClr val="222222"/>
                </a:solidFill>
                <a:latin typeface="Arial"/>
              </a:rPr>
              <a:t>Divergent college ERP spreadsheet schemas, non-standard column headers, and unverified declarations.</a:t>
            </a:r>
          </a:p>
          <a:p>
            <a:pPr>
              <a:spcBef>
                <a:spcPts val="20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Reconciliation Bottlenecks : </a:t>
            </a:r>
            <a:r>
              <a:rPr sz="780">
                <a:solidFill>
                  <a:srgbClr val="222222"/>
                </a:solidFill>
                <a:latin typeface="Arial"/>
              </a:rPr>
              <a:t>Difficulties cross-verifying declared enrolments against actual student records and AICTE approval ceilings.</a:t>
            </a:r>
          </a:p>
          <a:p>
            <a:pPr>
              <a:spcBef>
                <a:spcPts val="20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Intake &amp; Duplicate Risks : </a:t>
            </a:r>
            <a:r>
              <a:rPr sz="780">
                <a:solidFill>
                  <a:srgbClr val="222222"/>
                </a:solidFill>
                <a:latin typeface="Arial"/>
              </a:rPr>
              <a:t>Lack of automated visibility into over-intake breaches, quota diversion, and concurrent multi-college claims.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286000"/>
            <a:ext cx="5623560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ounded Rectangle 15365"/>
          <p:cNvSpPr/>
          <p:nvPr/>
        </p:nvSpPr>
        <p:spPr>
          <a:xfrm>
            <a:off x="475488" y="2176272"/>
            <a:ext cx="2011680" cy="219456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02920" y="2414016"/>
            <a:ext cx="53492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30" b="1">
                <a:solidFill>
                  <a:srgbClr val="008C6E"/>
                </a:solidFill>
                <a:latin typeface="Arial"/>
              </a:rPr>
              <a:t>&gt; Resilient One-Click Ingestion : </a:t>
            </a:r>
            <a:r>
              <a:rPr sz="780">
                <a:solidFill>
                  <a:srgbClr val="222222"/>
                </a:solidFill>
                <a:latin typeface="Arial"/>
              </a:rPr>
              <a:t>Sub-50ms regex mapping resolves 50+ divergent college ERP column headers (apaar_no, uid -&gt; apaar_id).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008C6E"/>
                </a:solidFill>
                <a:latin typeface="Arial"/>
              </a:rPr>
              <a:t>&gt; Autonomous 3-Way Reconciliation : </a:t>
            </a:r>
            <a:r>
              <a:rPr sz="780">
                <a:solidFill>
                  <a:srgbClr val="222222"/>
                </a:solidFill>
                <a:latin typeface="Arial"/>
              </a:rPr>
              <a:t>Deterministic Python core cross-checks declarations, staged uploads, and approved intake ceilings.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008C6E"/>
                </a:solidFill>
                <a:latin typeface="Arial"/>
              </a:rPr>
              <a:t>&gt; Tamper-Proof Digital Verification Receipt : </a:t>
            </a:r>
            <a:r>
              <a:rPr sz="780">
                <a:solidFill>
                  <a:srgbClr val="222222"/>
                </a:solidFill>
                <a:latin typeface="Arial"/>
              </a:rPr>
              <a:t>Issues Ed25519 (Curve25519) asymmetric signed verification receipts with offline verifiable QR codes.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008C6E"/>
                </a:solidFill>
                <a:latin typeface="Arial"/>
              </a:rPr>
              <a:t>&gt; Student Academic Passport : </a:t>
            </a:r>
            <a:r>
              <a:rPr sz="780">
                <a:solidFill>
                  <a:srgbClr val="222222"/>
                </a:solidFill>
                <a:latin typeface="Arial"/>
              </a:rPr>
              <a:t>Digitally anchored credentials linking Student Roll No with masked APAAR ID and verified quota status.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365760" y="3886200"/>
            <a:ext cx="5623560" cy="1508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75488" y="3776472"/>
            <a:ext cx="2834640" cy="219456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UVP (UNIQUE VALUE PROPOSITION)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502920" y="4014216"/>
            <a:ext cx="5349240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100% Deterministic Python Engine : </a:t>
            </a:r>
            <a:r>
              <a:rPr sz="780">
                <a:solidFill>
                  <a:srgbClr val="222222"/>
                </a:solidFill>
                <a:latin typeface="Arial"/>
              </a:rPr>
              <a:t>Explicit rule sets for sanctioned intake and supernumerary quotas eliminate opaque AI hallucinations.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Zero Plaintext APAAR Privacy Shield : </a:t>
            </a:r>
            <a:r>
              <a:rPr sz="780">
                <a:solidFill>
                  <a:srgbClr val="222222"/>
                </a:solidFill>
                <a:latin typeface="Arial"/>
              </a:rPr>
              <a:t>Keyed HMAC-SHA256 pseudonymized indexing and dynamic masking satisfy DPDP Act 2023 mandates.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Offline Mathematical Trust : </a:t>
            </a:r>
            <a:r>
              <a:rPr sz="780">
                <a:solidFill>
                  <a:srgbClr val="222222"/>
                </a:solidFill>
                <a:latin typeface="Arial"/>
              </a:rPr>
              <a:t>Edwards-Curve Digital Signatures (RFC 8032) allow verifiers to validate certificates without server queries.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1A56DB"/>
                </a:solidFill>
                <a:latin typeface="Arial"/>
              </a:rPr>
              <a:t>&gt; Tamper-Evident SHA-256 Ledger : </a:t>
            </a:r>
            <a:r>
              <a:rPr sz="780">
                <a:solidFill>
                  <a:srgbClr val="222222"/>
                </a:solidFill>
                <a:latin typeface="Arial"/>
              </a:rPr>
              <a:t>Sequential hash-chaining (Hash_n = SHA256(Record_n || Hash_n-1)) mathematically exposes any alteration.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172200" y="1051560"/>
            <a:ext cx="5623560" cy="434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6309360" y="941832"/>
            <a:ext cx="2011680" cy="219456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ARCHITECTURE &amp; CONSOLE</a:t>
            </a:r>
          </a:p>
        </p:txBody>
      </p:sp>
      <p:pic>
        <p:nvPicPr>
          <p:cNvPr id="15373" name="Picture 15372" descr="slide_2_Picture 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1234440"/>
            <a:ext cx="5404104" cy="2148840"/>
          </a:xfrm>
          <a:prstGeom prst="rect">
            <a:avLst/>
          </a:prstGeom>
        </p:spPr>
      </p:pic>
      <p:sp>
        <p:nvSpPr>
          <p:cNvPr id="15374" name="TextBox 15373"/>
          <p:cNvSpPr txBox="1"/>
          <p:nvPr/>
        </p:nvSpPr>
        <p:spPr>
          <a:xfrm>
            <a:off x="6281928" y="3429000"/>
            <a:ext cx="540410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1A365D"/>
                </a:solidFill>
                <a:latin typeface="Arial"/>
              </a:rPr>
              <a:t>&gt; Central Intake Intelligence : </a:t>
            </a:r>
            <a:r>
              <a:rPr sz="760">
                <a:solidFill>
                  <a:srgbClr val="222222"/>
                </a:solidFill>
                <a:latin typeface="Arial"/>
              </a:rPr>
              <a:t>Live monitoring of sanctioned intake vs enrolled students across B.Tech, MCA, and Diploma.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A365D"/>
                </a:solidFill>
                <a:latin typeface="Arial"/>
              </a:rPr>
              <a:t>&gt; Deterministic Review Desk : </a:t>
            </a:r>
            <a:r>
              <a:rPr sz="760">
                <a:solidFill>
                  <a:srgbClr val="222222"/>
                </a:solidFill>
                <a:latin typeface="Arial"/>
              </a:rPr>
              <a:t>Instant identification of seat limit breaches, unverified candidates, and duplicate claims.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6281928" y="4315968"/>
            <a:ext cx="5404104" cy="10058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6" name="Picture 15375" descr="qrcode_brainfor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370832"/>
            <a:ext cx="877824" cy="877824"/>
          </a:xfrm>
          <a:prstGeom prst="rect">
            <a:avLst/>
          </a:prstGeom>
        </p:spPr>
      </p:pic>
      <p:sp>
        <p:nvSpPr>
          <p:cNvPr id="15377" name="TextBox 15376"/>
          <p:cNvSpPr txBox="1"/>
          <p:nvPr/>
        </p:nvSpPr>
        <p:spPr>
          <a:xfrm>
            <a:off x="7315200" y="4352544"/>
            <a:ext cx="43434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12266"/>
                </a:solidFill>
                <a:latin typeface="Arial"/>
              </a:defRPr>
            </a:pPr>
            <a:r>
              <a:t>Click or Scan for Live Prototype:-</a:t>
            </a:r>
          </a:p>
          <a:p>
            <a:pPr>
              <a:spcBef>
                <a:spcPts val="150"/>
              </a:spcBef>
            </a:pPr>
            <a:r>
              <a:rPr sz="900" b="1">
                <a:solidFill>
                  <a:srgbClr val="1A56DB"/>
                </a:solidFill>
                <a:latin typeface="Arial"/>
                <a:hlinkClick r:id="rId6"/>
              </a:rPr>
              <a:t>https://brainforge.info ↗</a:t>
            </a:r>
          </a:p>
          <a:p>
            <a:pPr>
              <a:spcBef>
                <a:spcPts val="150"/>
              </a:spcBef>
            </a:pPr>
            <a:r>
              <a:rPr sz="780">
                <a:solidFill>
                  <a:srgbClr val="008C6E"/>
                </a:solidFill>
                <a:latin typeface="Arial"/>
                <a:hlinkClick r:id="rId7"/>
              </a:rPr>
              <a:t>Mirror: https://pramaan.brainforge.info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DA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★ 100% PRODUCTION SYSTEM ALREADY DEPLOYED &amp; 66/66 E2E SUITE TESTS VERIFIED ON LIVE CLOUD (VERCEL + RENDER + SUPABASE) 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92440" cy="77724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112266"/>
                </a:solidFill>
                <a:latin typeface="Arial"/>
              </a:defRPr>
            </a:pPr>
            <a:r>
              <a:t>T E C H N I C A L   A P P R O A C H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008C6E"/>
                </a:solidFill>
                <a:latin typeface="Arial"/>
              </a:defRPr>
            </a:pPr>
            <a:r>
              <a:t>Multi-Tier Ingestion Flow &amp; Autonomous Governance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419088"/>
            <a:ext cx="1645920" cy="329184"/>
          </a:xfrm>
        </p:spPr>
        <p:txBody>
          <a:bodyPr/>
          <a:lstStyle/>
          <a:p>
            <a:pPr algn="r">
              <a:defRPr sz="95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419088"/>
            <a:ext cx="6702552" cy="329184"/>
          </a:xfrm>
        </p:spPr>
        <p:txBody>
          <a:bodyPr/>
          <a:lstStyle/>
          <a:p>
            <a:pPr algn="ctr">
              <a:defRPr sz="95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37160"/>
            <a:ext cx="1325880" cy="65836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960120"/>
            <a:ext cx="530352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🚀 Start Here: College ERP Spreadsheet OR CSV Dataset?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353312"/>
            <a:ext cx="3566160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02920" y="1243584"/>
            <a:ext cx="3291840" cy="237744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MODE 1: FAST-TRACK (Clean Data)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517904"/>
            <a:ext cx="3346704" cy="2770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1. Ingestion Desk -&gt; </a:t>
            </a:r>
            <a:r>
              <a:rPr sz="760">
                <a:solidFill>
                  <a:srgbClr val="222222"/>
                </a:solidFill>
                <a:latin typeface="Arial"/>
              </a:rPr>
              <a:t>CSV/XLSX uploaded by college.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2. Header Normalizer -&gt; </a:t>
            </a:r>
            <a:r>
              <a:rPr sz="760">
                <a:solidFill>
                  <a:srgbClr val="222222"/>
                </a:solidFill>
                <a:latin typeface="Arial"/>
              </a:rPr>
              <a:t>Auto-maps aliases to schema in &lt;50ms.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3. Deterministic Engine -&gt; </a:t>
            </a:r>
            <a:r>
              <a:rPr sz="760">
                <a:solidFill>
                  <a:srgbClr val="222222"/>
                </a:solidFill>
                <a:latin typeface="Arial"/>
              </a:rPr>
              <a:t>Pure Python syntax &amp; Verhoeff check.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4. Quota Verification -&gt; </a:t>
            </a:r>
            <a:r>
              <a:rPr sz="760">
                <a:solidFill>
                  <a:srgbClr val="222222"/>
                </a:solidFill>
                <a:latin typeface="Arial"/>
              </a:rPr>
              <a:t>Sanctioned capacity ceiling verified.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5. Two-Phase Commit -&gt; </a:t>
            </a:r>
            <a:r>
              <a:rPr sz="760">
                <a:solidFill>
                  <a:srgbClr val="222222"/>
                </a:solidFill>
                <a:latin typeface="Arial"/>
              </a:rPr>
              <a:t>Staged to verified StudentIdentity table.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6. Verification Ready -&gt; </a:t>
            </a:r>
            <a:r>
              <a:rPr sz="760">
                <a:solidFill>
                  <a:srgbClr val="222222"/>
                </a:solidFill>
                <a:latin typeface="Arial"/>
              </a:rPr>
              <a:t>Instant Ed25519 digital receipt issued.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069080" y="1353312"/>
            <a:ext cx="3566160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6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206240" y="1243584"/>
            <a:ext cx="3291840" cy="237744"/>
          </a:xfrm>
          <a:prstGeom prst="roundRect">
            <a:avLst/>
          </a:prstGeom>
          <a:solidFill>
            <a:srgbClr val="DC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MODE 2: QUARANTINE (Errors/Breaches)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78808" y="1517904"/>
            <a:ext cx="3346704" cy="2770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1. Anomaly Flagged -&gt; </a:t>
            </a:r>
            <a:r>
              <a:rPr sz="760">
                <a:solidFill>
                  <a:srgbClr val="222222"/>
                </a:solidFill>
                <a:latin typeface="Arial"/>
              </a:rPr>
              <a:t>Syntax error, duplicate, or quota breach.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2. Quarantine Sandbox -&gt; </a:t>
            </a:r>
            <a:r>
              <a:rPr sz="760">
                <a:solidFill>
                  <a:srgbClr val="222222"/>
                </a:solidFill>
                <a:latin typeface="Arial"/>
              </a:rPr>
              <a:t>Isolates disputed rows before commit.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3. In-Browser Editing -&gt; </a:t>
            </a:r>
            <a:r>
              <a:rPr sz="760">
                <a:solidFill>
                  <a:srgbClr val="222222"/>
                </a:solidFill>
                <a:latin typeface="Arial"/>
              </a:rPr>
              <a:t>Registrar corrects row data directly.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4. Deterministic Recheck -&gt; </a:t>
            </a:r>
            <a:r>
              <a:rPr sz="760">
                <a:solidFill>
                  <a:srgbClr val="222222"/>
                </a:solidFill>
                <a:latin typeface="Arial"/>
              </a:rPr>
              <a:t>Pure Python re-runs rule engine live.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5. Audit Record Chained -&gt; </a:t>
            </a:r>
            <a:r>
              <a:rPr sz="760">
                <a:solidFill>
                  <a:srgbClr val="222222"/>
                </a:solidFill>
                <a:latin typeface="Arial"/>
              </a:rPr>
              <a:t>Modifications chained with SHA-256.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6. Council Commit -&gt; </a:t>
            </a:r>
            <a:r>
              <a:rPr sz="760">
                <a:solidFill>
                  <a:srgbClr val="222222"/>
                </a:solidFill>
                <a:latin typeface="Arial"/>
              </a:rPr>
              <a:t>Clean rows approved by central desk.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772400" y="1353312"/>
            <a:ext cx="4023360" cy="2971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7909560" y="1243584"/>
            <a:ext cx="3749040" cy="237744"/>
          </a:xfrm>
          <a:prstGeom prst="roundRect">
            <a:avLst/>
          </a:prstGeom>
          <a:solidFill>
            <a:srgbClr val="18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MODE 3: RADAR (Concurrent Claims)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882128" y="1517904"/>
            <a:ext cx="3803904" cy="2770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1. National Radar -&gt; </a:t>
            </a:r>
            <a:r>
              <a:rPr sz="760">
                <a:solidFill>
                  <a:srgbClr val="222222"/>
                </a:solidFill>
                <a:latin typeface="Arial"/>
              </a:rPr>
              <a:t>Cross-checks active admissions nationwide.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2. Collision Detected -&gt; </a:t>
            </a:r>
            <a:r>
              <a:rPr sz="760">
                <a:solidFill>
                  <a:srgbClr val="222222"/>
                </a:solidFill>
                <a:latin typeface="Arial"/>
              </a:rPr>
              <a:t>Flags identical student in 2 colleges.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3. Central Review Desk -&gt; </a:t>
            </a:r>
            <a:r>
              <a:rPr sz="760">
                <a:solidFill>
                  <a:srgbClr val="222222"/>
                </a:solidFill>
                <a:latin typeface="Arial"/>
              </a:rPr>
              <a:t>Side-by-side college admission audit.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4. Adjudication Action -&gt; </a:t>
            </a:r>
            <a:r>
              <a:rPr sz="760">
                <a:solidFill>
                  <a:srgbClr val="222222"/>
                </a:solidFill>
                <a:latin typeface="Arial"/>
              </a:rPr>
              <a:t>Council confirms valid vs invalid seat.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5. Quota Restored -&gt; </a:t>
            </a:r>
            <a:r>
              <a:rPr sz="760">
                <a:solidFill>
                  <a:srgbClr val="222222"/>
                </a:solidFill>
                <a:latin typeface="Arial"/>
              </a:rPr>
              <a:t>Vacated seat auto-returned to quota pool.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6. Tamper-Proof Audit -&gt; </a:t>
            </a:r>
            <a:r>
              <a:rPr sz="760">
                <a:solidFill>
                  <a:srgbClr val="222222"/>
                </a:solidFill>
                <a:latin typeface="Arial"/>
              </a:rPr>
              <a:t>Reviewer justification signed in ledger.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462272"/>
            <a:ext cx="6858000" cy="1810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122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502920" y="4352544"/>
            <a:ext cx="2926080" cy="219456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TECH STACK (PRODUCTION ARCHITECTURE)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" y="4626864"/>
            <a:ext cx="16276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 b="1">
                <a:solidFill>
                  <a:srgbClr val="1A365D"/>
                </a:solidFill>
                <a:latin typeface="Arial"/>
              </a:defRPr>
            </a:pPr>
            <a:r>
              <a:t>Frontend Client</a:t>
            </a:r>
          </a:p>
        </p:txBody>
      </p:sp>
      <p:pic>
        <p:nvPicPr>
          <p:cNvPr id="17423" name="Picture 17422" descr="nextj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4873752"/>
            <a:ext cx="292608" cy="292608"/>
          </a:xfrm>
          <a:prstGeom prst="rect">
            <a:avLst/>
          </a:prstGeom>
        </p:spPr>
      </p:pic>
      <p:pic>
        <p:nvPicPr>
          <p:cNvPr id="17424" name="Picture 17423" descr="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873752"/>
            <a:ext cx="292608" cy="292608"/>
          </a:xfrm>
          <a:prstGeom prst="rect">
            <a:avLst/>
          </a:prstGeom>
        </p:spPr>
      </p:pic>
      <p:pic>
        <p:nvPicPr>
          <p:cNvPr id="17425" name="Picture 17424" descr="typescri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873752"/>
            <a:ext cx="292608" cy="292608"/>
          </a:xfrm>
          <a:prstGeom prst="rect">
            <a:avLst/>
          </a:prstGeom>
        </p:spPr>
      </p:pic>
      <p:pic>
        <p:nvPicPr>
          <p:cNvPr id="17426" name="Picture 17425" descr="tailwindc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1328" y="4873752"/>
            <a:ext cx="292608" cy="292608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438912" y="5239512"/>
            <a:ext cx="162763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00">
                <a:solidFill>
                  <a:srgbClr val="222222"/>
                </a:solidFill>
                <a:latin typeface="Arial"/>
              </a:defRPr>
            </a:pPr>
            <a:r>
              <a:t>Next.js 14, React 18, TypeScript 5, Tailwind CSS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121408" y="4626864"/>
            <a:ext cx="16276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 b="1">
                <a:solidFill>
                  <a:srgbClr val="1A365D"/>
                </a:solidFill>
                <a:latin typeface="Arial"/>
              </a:defRPr>
            </a:pPr>
            <a:r>
              <a:t>Backend Services</a:t>
            </a:r>
          </a:p>
        </p:txBody>
      </p:sp>
      <p:pic>
        <p:nvPicPr>
          <p:cNvPr id="17429" name="Picture 17428" descr="pyth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1408" y="4873752"/>
            <a:ext cx="292608" cy="292608"/>
          </a:xfrm>
          <a:prstGeom prst="rect">
            <a:avLst/>
          </a:prstGeom>
        </p:spPr>
      </p:pic>
      <p:pic>
        <p:nvPicPr>
          <p:cNvPr id="17430" name="Picture 17429" descr="fastap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873752"/>
            <a:ext cx="292608" cy="292608"/>
          </a:xfrm>
          <a:prstGeom prst="rect">
            <a:avLst/>
          </a:prstGeom>
        </p:spPr>
      </p:pic>
      <p:pic>
        <p:nvPicPr>
          <p:cNvPr id="17431" name="Picture 17430" descr="nodej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6352" y="4873752"/>
            <a:ext cx="292608" cy="292608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2121408" y="5239512"/>
            <a:ext cx="162763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00">
                <a:solidFill>
                  <a:srgbClr val="222222"/>
                </a:solidFill>
                <a:latin typeface="Arial"/>
              </a:defRPr>
            </a:pPr>
            <a:r>
              <a:t>Python 3.10+, FastAPI Monolith, Pydantic v2, Uvicorn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803904" y="4626864"/>
            <a:ext cx="16276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 b="1">
                <a:solidFill>
                  <a:srgbClr val="1A365D"/>
                </a:solidFill>
                <a:latin typeface="Arial"/>
              </a:defRPr>
            </a:pPr>
            <a:r>
              <a:t>Persistence &amp; Cloud</a:t>
            </a:r>
          </a:p>
        </p:txBody>
      </p:sp>
      <p:pic>
        <p:nvPicPr>
          <p:cNvPr id="17434" name="Picture 17433" descr="postgresq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3904" y="4873752"/>
            <a:ext cx="292608" cy="292608"/>
          </a:xfrm>
          <a:prstGeom prst="rect">
            <a:avLst/>
          </a:prstGeom>
        </p:spPr>
      </p:pic>
      <p:pic>
        <p:nvPicPr>
          <p:cNvPr id="17435" name="Picture 17434" descr="supaba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51376" y="4873752"/>
            <a:ext cx="292608" cy="292608"/>
          </a:xfrm>
          <a:prstGeom prst="rect">
            <a:avLst/>
          </a:prstGeom>
        </p:spPr>
      </p:pic>
      <p:pic>
        <p:nvPicPr>
          <p:cNvPr id="17436" name="Picture 17435" descr="rende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8848" y="4873752"/>
            <a:ext cx="292608" cy="292608"/>
          </a:xfrm>
          <a:prstGeom prst="rect">
            <a:avLst/>
          </a:prstGeom>
        </p:spPr>
      </p:pic>
      <p:pic>
        <p:nvPicPr>
          <p:cNvPr id="17437" name="Picture 17436" descr="vercel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46320" y="4873752"/>
            <a:ext cx="292608" cy="29260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3803904" y="5239512"/>
            <a:ext cx="162763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00">
                <a:solidFill>
                  <a:srgbClr val="222222"/>
                </a:solidFill>
                <a:latin typeface="Arial"/>
              </a:defRPr>
            </a:pPr>
            <a:r>
              <a:t>PostgreSQL 17.11 (20 RLS Tables), Supabase, Vercel Edge, Render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486400" y="4626864"/>
            <a:ext cx="16276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19" b="1">
                <a:solidFill>
                  <a:srgbClr val="1A365D"/>
                </a:solidFill>
                <a:latin typeface="Arial"/>
              </a:defRPr>
            </a:pPr>
            <a:r>
              <a:t>Trust &amp; DevOps</a:t>
            </a:r>
          </a:p>
        </p:txBody>
      </p:sp>
      <p:pic>
        <p:nvPicPr>
          <p:cNvPr id="17440" name="Picture 17439" descr="shiel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0" y="4873752"/>
            <a:ext cx="292608" cy="292608"/>
          </a:xfrm>
          <a:prstGeom prst="rect">
            <a:avLst/>
          </a:prstGeom>
        </p:spPr>
      </p:pic>
      <p:pic>
        <p:nvPicPr>
          <p:cNvPr id="17441" name="Picture 17440" descr="docke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33872" y="4873752"/>
            <a:ext cx="292608" cy="292608"/>
          </a:xfrm>
          <a:prstGeom prst="rect">
            <a:avLst/>
          </a:prstGeom>
        </p:spPr>
      </p:pic>
      <p:pic>
        <p:nvPicPr>
          <p:cNvPr id="17442" name="Picture 17441" descr="github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81344" y="4873752"/>
            <a:ext cx="292608" cy="292608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5486400" y="5239512"/>
            <a:ext cx="162763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00">
                <a:solidFill>
                  <a:srgbClr val="222222"/>
                </a:solidFill>
                <a:latin typeface="Arial"/>
              </a:defRPr>
            </a:pPr>
            <a:r>
              <a:t>Ed25519 Cryptography, SHA-256 Ledger, Docker, GitHub CI/CD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406640" y="4462272"/>
            <a:ext cx="4389120" cy="1810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7543800" y="4352544"/>
            <a:ext cx="2926080" cy="219456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PROTOTYPE EVIDENCE: INGESTION DESK</a:t>
            </a:r>
          </a:p>
        </p:txBody>
      </p:sp>
      <p:pic>
        <p:nvPicPr>
          <p:cNvPr id="17446" name="Picture 17445" descr="slide_3_Picture 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368" y="4645152"/>
            <a:ext cx="2423160" cy="1536192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10012680" y="4645152"/>
            <a:ext cx="169164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112266"/>
                </a:solidFill>
                <a:latin typeface="Arial"/>
              </a:defRPr>
            </a:pPr>
            <a:r>
              <a:t>Smart Ingestion Desk:</a:t>
            </a:r>
          </a:p>
          <a:p>
            <a:pPr>
              <a:spcBef>
                <a:spcPts val="200"/>
              </a:spcBef>
              <a:defRPr sz="720">
                <a:solidFill>
                  <a:srgbClr val="222222"/>
                </a:solidFill>
                <a:latin typeface="Arial"/>
              </a:defRPr>
            </a:pPr>
            <a:r>
              <a:t>Sub-50ms automated schema mapping, pre-flight validation status, quarantine sandbox, and atomic batch commitment.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92440" cy="77724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112266"/>
                </a:solidFill>
                <a:latin typeface="Arial"/>
              </a:defRPr>
            </a:pPr>
            <a:r>
              <a:t>F E A S I B I L I T Y   A N D   V I A B I L I T Y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008C6E"/>
                </a:solidFill>
                <a:latin typeface="Arial"/>
              </a:defRPr>
            </a:pPr>
            <a:r>
              <a:t>Engineering Proof, Economic Defensibility &amp; Risk Mitigation Framework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419088"/>
            <a:ext cx="1645920" cy="329184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95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419088"/>
            <a:ext cx="6702552" cy="329184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37160"/>
            <a:ext cx="1325880" cy="65836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051560"/>
            <a:ext cx="562356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941832"/>
            <a:ext cx="1645920" cy="219456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FEASIBILITY :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188720"/>
            <a:ext cx="5349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19" b="1">
                <a:solidFill>
                  <a:srgbClr val="112266"/>
                </a:solidFill>
                <a:latin typeface="Arial"/>
              </a:rPr>
              <a:t>&gt; Technical : </a:t>
            </a:r>
            <a:r>
              <a:rPr sz="780">
                <a:solidFill>
                  <a:srgbClr val="222222"/>
                </a:solidFill>
                <a:latin typeface="Arial"/>
              </a:rPr>
              <a:t>Next.js 14, FastAPI, Supabase PostgreSQL 17.11 (20 tables, RLS active). 66/66 automated tests passing across 14 test suites.</a:t>
            </a:r>
            <a:r>
              <a:rPr sz="780" b="1">
                <a:solidFill>
                  <a:srgbClr val="1A56DB"/>
                </a:solidFill>
                <a:latin typeface="Arial"/>
                <a:hlinkClick r:id="rId4"/>
              </a:rPr>
              <a:t> [LINK ↗]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12266"/>
                </a:solidFill>
                <a:latin typeface="Arial"/>
              </a:rPr>
              <a:t>&gt; Innovation : </a:t>
            </a:r>
            <a:r>
              <a:rPr sz="780">
                <a:solidFill>
                  <a:srgbClr val="222222"/>
                </a:solidFill>
                <a:latin typeface="Arial"/>
              </a:rPr>
              <a:t>Pure Deterministic 3-Way Reconciliation Engine — World's first explainable academic quota defense avoiding opaque AI errors.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12266"/>
                </a:solidFill>
                <a:latin typeface="Arial"/>
              </a:rPr>
              <a:t>&gt; Operational : </a:t>
            </a:r>
            <a:r>
              <a:rPr sz="780">
                <a:solidFill>
                  <a:srgbClr val="222222"/>
                </a:solidFill>
                <a:latin typeface="Arial"/>
              </a:rPr>
              <a:t>Zero specialized hardware required. Standard modern browser access across Windows, Linux, and macOS.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12266"/>
                </a:solidFill>
                <a:latin typeface="Arial"/>
              </a:rPr>
              <a:t>&gt; Economic : </a:t>
            </a:r>
            <a:r>
              <a:rPr sz="780">
                <a:solidFill>
                  <a:srgbClr val="222222"/>
                </a:solidFill>
                <a:latin typeface="Arial"/>
              </a:rPr>
              <a:t>Replaces manual paperwork, prolonged paper audits, and physical affidavit logistics with instant digital verification.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1051560"/>
            <a:ext cx="562356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941832"/>
            <a:ext cx="1645920" cy="219456"/>
          </a:xfrm>
          <a:prstGeom prst="roundRect">
            <a:avLst/>
          </a:prstGeom>
          <a:solidFill>
            <a:srgbClr val="18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VIABILITY :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09360" y="1188720"/>
            <a:ext cx="5349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&gt; Regulatory Scope : </a:t>
            </a:r>
            <a:r>
              <a:rPr sz="780">
                <a:solidFill>
                  <a:srgbClr val="222222"/>
                </a:solidFill>
                <a:latin typeface="Arial"/>
              </a:rPr>
              <a:t>Strictly enforces AICTE Approval Process Handbook (APH 2026-27), NEP 2020, and DPDP Act 2023 mandates.</a:t>
            </a:r>
            <a:r>
              <a:rPr sz="780" b="1">
                <a:solidFill>
                  <a:srgbClr val="008C6E"/>
                </a:solidFill>
                <a:latin typeface="Arial"/>
                <a:hlinkClick r:id="rId5"/>
              </a:rPr>
              <a:t> [LIVE PLATFORM ↗]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&gt; Policy &amp; Revenue : </a:t>
            </a:r>
            <a:r>
              <a:rPr sz="780">
                <a:solidFill>
                  <a:srgbClr val="222222"/>
                </a:solidFill>
                <a:latin typeface="Arial"/>
              </a:rPr>
              <a:t>Prevents ₹100s of Crores in ghost-seat grant diversion; provides verifiable digital credential authentication service.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&gt; Investment &amp; ROI : </a:t>
            </a:r>
            <a:r>
              <a:rPr sz="780">
                <a:solidFill>
                  <a:srgbClr val="222222"/>
                </a:solidFill>
                <a:latin typeface="Arial"/>
              </a:rPr>
              <a:t>Minimal serverless hosting overhead; deployed on Vercel Edge + Render Cloud; break-even within 6 months.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&gt; Scalability : </a:t>
            </a:r>
            <a:r>
              <a:rPr sz="780">
                <a:solidFill>
                  <a:srgbClr val="222222"/>
                </a:solidFill>
                <a:latin typeface="Arial"/>
              </a:rPr>
              <a:t>Sub-50ms deterministic validation per batch; cloud architecture ready for nationwide expansion across 10,000+ colleges.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365760" y="3364992"/>
            <a:ext cx="1143000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WHAT IFs....? &amp; GOVERNANCE CHALLENGES MITIGATED (FAIL-SAFE ARCHITECTURE)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730752"/>
            <a:ext cx="2724912" cy="25420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75488" y="3621024"/>
            <a:ext cx="2505456" cy="228600"/>
          </a:xfrm>
          <a:prstGeom prst="roundRect">
            <a:avLst/>
          </a:prstGeom>
          <a:solidFill>
            <a:srgbClr val="B4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WHAT IF 01: Schema Divergence?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75488" y="3886200"/>
            <a:ext cx="250545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B42828"/>
                </a:solidFill>
                <a:latin typeface="Arial"/>
              </a:rPr>
              <a:t>Challenge: </a:t>
            </a:r>
            <a:r>
              <a:rPr sz="750">
                <a:solidFill>
                  <a:srgbClr val="222222"/>
                </a:solidFill>
                <a:latin typeface="Arial"/>
              </a:rPr>
              <a:t>Colleges upload unverified, non-standard ERP spreadsheets with 50+ divergent column headers.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008C6E"/>
                </a:solidFill>
                <a:latin typeface="Arial"/>
              </a:rPr>
              <a:t>Engine Mitigation: </a:t>
            </a:r>
            <a:r>
              <a:rPr sz="750">
                <a:solidFill>
                  <a:srgbClr val="222222"/>
                </a:solidFill>
                <a:latin typeface="Arial"/>
              </a:rPr>
              <a:t>Sub-50ms regex normalizer auto-maps aliases (apaar_no, uid -&gt; apaar_id) with 99.8% schema tolerance.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64408" y="3730752"/>
            <a:ext cx="2724912" cy="25420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374136" y="3621024"/>
            <a:ext cx="2505456" cy="22860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WHAT IF 02: APAAR Data Leaks?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374136" y="3886200"/>
            <a:ext cx="250545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B42828"/>
                </a:solidFill>
                <a:latin typeface="Arial"/>
              </a:rPr>
              <a:t>Challenge: </a:t>
            </a:r>
            <a:r>
              <a:rPr sz="750">
                <a:solidFill>
                  <a:srgbClr val="222222"/>
                </a:solidFill>
                <a:latin typeface="Arial"/>
              </a:rPr>
              <a:t>Storing plaintext 12-digit student APAAR identifiers risks data leakage under DPDP Act 2023.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008C6E"/>
                </a:solidFill>
                <a:latin typeface="Arial"/>
              </a:rPr>
              <a:t>Engine Mitigation: </a:t>
            </a:r>
            <a:r>
              <a:rPr sz="750">
                <a:solidFill>
                  <a:srgbClr val="222222"/>
                </a:solidFill>
                <a:latin typeface="Arial"/>
              </a:rPr>
              <a:t>Keyed HMAC-SHA256 pseudonymized indexing and dynamic masking (XXXX-XXXX-9012) ensure zero plaintext PII.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63056" y="3730752"/>
            <a:ext cx="2724912" cy="25420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6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6272784" y="3621024"/>
            <a:ext cx="2505456" cy="228600"/>
          </a:xfrm>
          <a:prstGeom prst="roundRect">
            <a:avLst/>
          </a:prstGeom>
          <a:solidFill>
            <a:srgbClr val="DC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WHAT IF 03: Double Admission?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72784" y="3886200"/>
            <a:ext cx="250545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B42828"/>
                </a:solidFill>
                <a:latin typeface="Arial"/>
              </a:rPr>
              <a:t>Challenge: </a:t>
            </a:r>
            <a:r>
              <a:rPr sz="750">
                <a:solidFill>
                  <a:srgbClr val="222222"/>
                </a:solidFill>
                <a:latin typeface="Arial"/>
              </a:rPr>
              <a:t>Students admitted concurrently across multiple colleges, blocking seats and diverting grants.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008C6E"/>
                </a:solidFill>
                <a:latin typeface="Arial"/>
              </a:rPr>
              <a:t>Engine Mitigation: </a:t>
            </a:r>
            <a:r>
              <a:rPr sz="750">
                <a:solidFill>
                  <a:srgbClr val="222222"/>
                </a:solidFill>
                <a:latin typeface="Arial"/>
              </a:rPr>
              <a:t>National Collision Radar detects cross-college overlaps in real time and auto-returns vacated seats.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061704" y="3730752"/>
            <a:ext cx="2724912" cy="25420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9171432" y="3621024"/>
            <a:ext cx="2505456" cy="2286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WHAT IF 04: Record Tampering?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171432" y="3886200"/>
            <a:ext cx="250545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B42828"/>
                </a:solidFill>
                <a:latin typeface="Arial"/>
              </a:rPr>
              <a:t>Challenge: </a:t>
            </a:r>
            <a:r>
              <a:rPr sz="750">
                <a:solidFill>
                  <a:srgbClr val="222222"/>
                </a:solidFill>
                <a:latin typeface="Arial"/>
              </a:rPr>
              <a:t>Unauthorized administrator attempts to tamper with student approval status or intake quota.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008C6E"/>
                </a:solidFill>
                <a:latin typeface="Arial"/>
              </a:rPr>
              <a:t>Engine Mitigation: </a:t>
            </a:r>
            <a:r>
              <a:rPr sz="750">
                <a:solidFill>
                  <a:srgbClr val="222222"/>
                </a:solidFill>
                <a:latin typeface="Arial"/>
              </a:rPr>
              <a:t>Sequential SHA-256 hash chaining (Hash_n = SHA256(Record_n || Hash_n-1)) mathematically breaks if altered.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92440" cy="77724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112266"/>
                </a:solidFill>
                <a:latin typeface="Arial"/>
              </a:defRPr>
            </a:pPr>
            <a:r>
              <a:t>I M P A C T S   &amp;   B E N E F I T S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008C6E"/>
                </a:solidFill>
                <a:latin typeface="Arial"/>
              </a:defRPr>
            </a:pPr>
            <a:r>
              <a:t>Multi-Stakeholder Regulatory Value &amp; 3-Tier Operating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419088"/>
            <a:ext cx="1645920" cy="329184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95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419088"/>
            <a:ext cx="6702552" cy="329184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37160"/>
            <a:ext cx="1325880" cy="65836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051560"/>
            <a:ext cx="6812280" cy="2560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143000"/>
            <a:ext cx="6537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&gt; The Regulatory &amp; Grant Protection Impact : </a:t>
            </a:r>
            <a:r>
              <a:rPr sz="800">
                <a:solidFill>
                  <a:srgbClr val="222222"/>
                </a:solidFill>
                <a:latin typeface="Arial"/>
              </a:rPr>
              <a:t>Hundreds of millions in government technical grants are protected by eliminating phantom seats, excess enrolments, and commercial seat-blocking across 10,000+ institutions.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&gt; Social Equity &amp; Affirmative Action Gains : </a:t>
            </a:r>
            <a:r>
              <a:rPr sz="800">
                <a:solidFill>
                  <a:srgbClr val="222222"/>
                </a:solidFill>
                <a:latin typeface="Arial"/>
              </a:rPr>
              <a:t>Rigorous automated enforcement of statutory and supernumerary quotas (TFW 5%, EWS 10%, Kashmiri Migrants, NRI/FN 15%) protects legitimate students against arbitrary substitution.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&gt; Environmental &amp; Paperless Transformation : </a:t>
            </a:r>
            <a:r>
              <a:rPr sz="800">
                <a:solidFill>
                  <a:srgbClr val="222222"/>
                </a:solidFill>
                <a:latin typeface="Arial"/>
              </a:rPr>
              <a:t>100% digital data reconciliation replaces manual paperwork, physical affidavits, and physical inspection logistics; guarantees full DPDP Act 2023 compliance with zero plaintext APAAR storage.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360920" y="1051560"/>
            <a:ext cx="4462272" cy="2560320"/>
          </a:xfrm>
          <a:prstGeom prst="roundRect">
            <a:avLst/>
          </a:prstGeom>
          <a:solidFill>
            <a:srgbClr val="181C24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7452360" y="1097280"/>
          <a:ext cx="427939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868680"/>
                <a:gridCol w="804672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Feature Matrix</a:t>
                      </a:r>
                    </a:p>
                  </a:txBody>
                  <a:tcPr marL="36576" marR="36576" marT="18288" marB="18288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Conventional</a:t>
                      </a:r>
                    </a:p>
                  </a:txBody>
                  <a:tcPr marL="36576" marR="36576" marT="18288" marB="18288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PRAMAAN</a:t>
                      </a:r>
                    </a:p>
                  </a:txBody>
                  <a:tcPr marL="36576" marR="36576" marT="18288" marB="18288">
                    <a:solidFill>
                      <a:srgbClr val="10254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3-Way Deterministic Reconciliation</a:t>
                      </a:r>
                    </a:p>
                  </a:txBody>
                  <a:tcPr marL="54864" marR="18288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Resilient Column Alias Normalizer</a:t>
                      </a:r>
                    </a:p>
                  </a:txBody>
                  <a:tcPr marL="54864" marR="18288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Interactive In-Browser Sandbox</a:t>
                      </a:r>
                    </a:p>
                  </a:txBody>
                  <a:tcPr marL="54864" marR="18288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Cross-Institution Collision Radar</a:t>
                      </a:r>
                    </a:p>
                  </a:txBody>
                  <a:tcPr marL="54864" marR="18288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Zero Plaintext APAAR (HMAC-SHA256)</a:t>
                      </a:r>
                    </a:p>
                  </a:txBody>
                  <a:tcPr marL="54864" marR="18288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Asymmetric Ed25519 QR Receipts</a:t>
                      </a:r>
                    </a:p>
                  </a:txBody>
                  <a:tcPr marL="54864" marR="18288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Tamper-Evident SHA-256 Ledger</a:t>
                      </a:r>
                    </a:p>
                  </a:txBody>
                  <a:tcPr marL="54864" marR="18288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DPDP Act 2023 Consent Compliance</a:t>
                      </a:r>
                    </a:p>
                  </a:txBody>
                  <a:tcPr marL="54864" marR="18288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DC6414"/>
                          </a:solidFill>
                          <a:latin typeface="Arial"/>
                        </a:rPr>
                        <a:t>!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81E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F0F5FF"/>
                          </a:solidFill>
                          <a:latin typeface="Arial"/>
                        </a:rPr>
                        <a:t>Live Multi-Domain Deployment</a:t>
                      </a:r>
                    </a:p>
                  </a:txBody>
                  <a:tcPr marL="54864" marR="18288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B42828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008C6E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9144" marR="9144" marT="9144" marB="9144">
                    <a:solidFill>
                      <a:srgbClr val="121721"/>
                    </a:solidFill>
                  </a:tcPr>
                </a:tc>
              </a:tr>
            </a:tbl>
          </a:graphicData>
        </a:graphic>
      </p:graphicFrame>
      <p:sp>
        <p:nvSpPr>
          <p:cNvPr id="17414" name="Rectangle 17413"/>
          <p:cNvSpPr/>
          <p:nvPr/>
        </p:nvSpPr>
        <p:spPr>
          <a:xfrm>
            <a:off x="365760" y="3730752"/>
            <a:ext cx="1143000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H O W   P R A M A A N   W O R K S   (THREE-TIER OPERATING BREAKTHROUGH)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4096512"/>
            <a:ext cx="3657600" cy="2057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75488" y="3986784"/>
            <a:ext cx="3438144" cy="237744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MODE 1: INSTITUTIONAL DESK (College)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75488" y="4261104"/>
            <a:ext cx="3438144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&gt; For : </a:t>
            </a:r>
            <a:r>
              <a:rPr sz="760">
                <a:solidFill>
                  <a:srgbClr val="222222"/>
                </a:solidFill>
                <a:latin typeface="Arial"/>
              </a:rPr>
              <a:t>College registrars &amp; admission officers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&gt; Process : </a:t>
            </a:r>
            <a:r>
              <a:rPr sz="760">
                <a:solidFill>
                  <a:srgbClr val="222222"/>
                </a:solidFill>
                <a:latin typeface="Arial"/>
              </a:rPr>
              <a:t>Upload CSV/Excel -&gt; Sub-50ms alias mapping -&gt; Quarantine sandbox -&gt; Commit batch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&gt; Time : </a:t>
            </a:r>
            <a:r>
              <a:rPr sz="760">
                <a:solidFill>
                  <a:srgbClr val="222222"/>
                </a:solidFill>
                <a:latin typeface="Arial"/>
              </a:rPr>
              <a:t>&lt; 2 minutes per batch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&gt; Success Rate : </a:t>
            </a:r>
            <a:r>
              <a:rPr sz="760">
                <a:solidFill>
                  <a:srgbClr val="222222"/>
                </a:solidFill>
                <a:latin typeface="Arial"/>
              </a:rPr>
              <a:t>99.8% schema tolerance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A56DB"/>
                </a:solidFill>
                <a:latin typeface="Arial"/>
              </a:rPr>
              <a:t>&gt; Best For : </a:t>
            </a:r>
            <a:r>
              <a:rPr sz="760">
                <a:solidFill>
                  <a:srgbClr val="222222"/>
                </a:solidFill>
                <a:latin typeface="Arial"/>
              </a:rPr>
              <a:t>Annual technical admissions &amp; onboarding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51960" y="4096512"/>
            <a:ext cx="3657600" cy="2057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6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361688" y="3986784"/>
            <a:ext cx="3438144" cy="237744"/>
          </a:xfrm>
          <a:prstGeom prst="roundRect">
            <a:avLst/>
          </a:prstGeom>
          <a:solidFill>
            <a:srgbClr val="DC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MODE 2: REGULATORY DESK (AICTE)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61688" y="4261104"/>
            <a:ext cx="3438144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&gt; For : </a:t>
            </a:r>
            <a:r>
              <a:rPr sz="760">
                <a:solidFill>
                  <a:srgbClr val="222222"/>
                </a:solidFill>
                <a:latin typeface="Arial"/>
              </a:rPr>
              <a:t>AICTE central administrators &amp; scrutiny officers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&gt; Process : </a:t>
            </a:r>
            <a:r>
              <a:rPr sz="760">
                <a:solidFill>
                  <a:srgbClr val="222222"/>
                </a:solidFill>
                <a:latin typeface="Arial"/>
              </a:rPr>
              <a:t>3-way reconciliation (Declarations x Uploads x Sanctioned Quota) -&gt; Collision radar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&gt; Time : </a:t>
            </a:r>
            <a:r>
              <a:rPr sz="760">
                <a:solidFill>
                  <a:srgbClr val="222222"/>
                </a:solidFill>
                <a:latin typeface="Arial"/>
              </a:rPr>
              <a:t>Instant real-time calculation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&gt; Success Rate : </a:t>
            </a:r>
            <a:r>
              <a:rPr sz="760">
                <a:solidFill>
                  <a:srgbClr val="222222"/>
                </a:solidFill>
                <a:latin typeface="Arial"/>
              </a:rPr>
              <a:t>100% Deterministic (Zero Hallucination)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DC6414"/>
                </a:solidFill>
                <a:latin typeface="Arial"/>
              </a:rPr>
              <a:t>&gt; Best For : </a:t>
            </a:r>
            <a:r>
              <a:rPr sz="760">
                <a:solidFill>
                  <a:srgbClr val="222222"/>
                </a:solidFill>
                <a:latin typeface="Arial"/>
              </a:rPr>
              <a:t>Over-intake prevention &amp; quota defense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138160" y="4096512"/>
            <a:ext cx="3657600" cy="2057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8247888" y="3986784"/>
            <a:ext cx="3438144" cy="237744"/>
          </a:xfrm>
          <a:prstGeom prst="roundRect">
            <a:avLst/>
          </a:prstGeom>
          <a:solidFill>
            <a:srgbClr val="18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MODE 3: TRUST GATEWAY (Verifiers)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247888" y="4261104"/>
            <a:ext cx="3438144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&gt; For : </a:t>
            </a:r>
            <a:r>
              <a:rPr sz="760">
                <a:solidFill>
                  <a:srgbClr val="222222"/>
                </a:solidFill>
                <a:latin typeface="Arial"/>
              </a:rPr>
              <a:t>Employers, universities, verifiers, and students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&gt; Process : </a:t>
            </a:r>
            <a:r>
              <a:rPr sz="760">
                <a:solidFill>
                  <a:srgbClr val="222222"/>
                </a:solidFill>
                <a:latin typeface="Arial"/>
              </a:rPr>
              <a:t>Scan Ed25519 QR -&gt; Validate cryptographic proof offline against AICTE public key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&gt; Time : </a:t>
            </a:r>
            <a:r>
              <a:rPr sz="760">
                <a:solidFill>
                  <a:srgbClr val="222222"/>
                </a:solidFill>
                <a:latin typeface="Arial"/>
              </a:rPr>
              <a:t>&lt; 50ms offline verification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&gt; Success Rate : </a:t>
            </a:r>
            <a:r>
              <a:rPr sz="760">
                <a:solidFill>
                  <a:srgbClr val="222222"/>
                </a:solidFill>
                <a:latin typeface="Arial"/>
              </a:rPr>
              <a:t>100% Mathematical Non-Repudiation</a:t>
            </a:r>
          </a:p>
          <a:p>
            <a:pPr>
              <a:spcBef>
                <a:spcPts val="250"/>
              </a:spcBef>
            </a:pPr>
            <a:r>
              <a:rPr sz="800" b="1">
                <a:solidFill>
                  <a:srgbClr val="18864B"/>
                </a:solidFill>
                <a:latin typeface="Arial"/>
              </a:rPr>
              <a:t>&gt; Best For : </a:t>
            </a:r>
            <a:r>
              <a:rPr sz="760">
                <a:solidFill>
                  <a:srgbClr val="222222"/>
                </a:solidFill>
                <a:latin typeface="Arial"/>
              </a:rPr>
              <a:t>Zero-trust academic degree verification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92440" cy="77724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112266"/>
                </a:solidFill>
                <a:latin typeface="Arial"/>
              </a:defRPr>
            </a:pPr>
            <a:r>
              <a:t>R E S E A R C H   A N D   R E F E R E N C E S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008C6E"/>
                </a:solidFill>
                <a:latin typeface="Arial"/>
              </a:defRPr>
            </a:pPr>
            <a:r>
              <a:t>Authoritative Citations, Prior Art Differentiation &amp; Clickable Live Resources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419088"/>
            <a:ext cx="1645920" cy="329184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95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419088"/>
            <a:ext cx="6702552" cy="329184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37160"/>
            <a:ext cx="1325880" cy="65836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051560"/>
            <a:ext cx="11430000" cy="1508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115568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30" b="1">
                <a:solidFill>
                  <a:srgbClr val="1A365D"/>
                </a:solidFill>
                <a:latin typeface="Arial"/>
              </a:rPr>
              <a:t>&gt; AICTE Approval Process Handbook (APH 2026-27) : </a:t>
            </a:r>
            <a:r>
              <a:rPr sz="780">
                <a:solidFill>
                  <a:srgbClr val="222222"/>
                </a:solidFill>
                <a:latin typeface="Arial"/>
              </a:rPr>
              <a:t>Statutory norms for approved intake capacity, supernumerary seat limits (TFW 5%, EWS 10%, KM), and program affiliation. Links : </a:t>
            </a:r>
            <a:r>
              <a:rPr sz="780" b="1">
                <a:solidFill>
                  <a:srgbClr val="1A56DB"/>
                </a:solidFill>
                <a:latin typeface="Arial"/>
                <a:hlinkClick r:id="rId4"/>
              </a:rPr>
              <a:t>[AICTE Portal ↗]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1A365D"/>
                </a:solidFill>
                <a:latin typeface="Arial"/>
              </a:rPr>
              <a:t>&gt; National Education Policy (NEP 2020) &amp; APAAR / ABC : </a:t>
            </a:r>
            <a:r>
              <a:rPr sz="780">
                <a:solidFill>
                  <a:srgbClr val="222222"/>
                </a:solidFill>
                <a:latin typeface="Arial"/>
              </a:rPr>
              <a:t>Framework establishing the 12-digit Automated Permanent Academic Account Registry as the national lifelong academic identifier. Links : </a:t>
            </a:r>
            <a:r>
              <a:rPr sz="780" b="1">
                <a:solidFill>
                  <a:srgbClr val="1A56DB"/>
                </a:solidFill>
                <a:latin typeface="Arial"/>
                <a:hlinkClick r:id="rId4"/>
              </a:rPr>
              <a:t>[MoE Guidelines ↗]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1A365D"/>
                </a:solidFill>
                <a:latin typeface="Arial"/>
              </a:rPr>
              <a:t>&gt; Digital Personal Data Protection Act (DPDP Act 2023) : </a:t>
            </a:r>
            <a:r>
              <a:rPr sz="780">
                <a:solidFill>
                  <a:srgbClr val="222222"/>
                </a:solidFill>
                <a:latin typeface="Arial"/>
              </a:rPr>
              <a:t>Principles of purpose limitation, data minimization, keyed HMAC-SHA256 pseudonymization, and dynamic student masking. Links : </a:t>
            </a:r>
            <a:r>
              <a:rPr sz="780" b="1">
                <a:solidFill>
                  <a:srgbClr val="1A56DB"/>
                </a:solidFill>
                <a:latin typeface="Arial"/>
                <a:hlinkClick r:id="rId4"/>
              </a:rPr>
              <a:t>[DPDP Gazette ↗]</a:t>
            </a:r>
          </a:p>
          <a:p>
            <a:pPr>
              <a:spcBef>
                <a:spcPts val="220"/>
              </a:spcBef>
            </a:pPr>
            <a:r>
              <a:rPr sz="830" b="1">
                <a:solidFill>
                  <a:srgbClr val="1A365D"/>
                </a:solidFill>
                <a:latin typeface="Arial"/>
              </a:rPr>
              <a:t>&gt; IETF RFC 8032 (Ed25519) &amp; NIST SP 800-107 (Secure Hashing) : </a:t>
            </a:r>
            <a:r>
              <a:rPr sz="780">
                <a:solidFill>
                  <a:srgbClr val="222222"/>
                </a:solidFill>
                <a:latin typeface="Arial"/>
              </a:rPr>
              <a:t>Cryptographic specifications for Edwards-Curve Digital Signatures and sequential SHA-256 hash chaining. Links : </a:t>
            </a:r>
            <a:r>
              <a:rPr sz="780" b="1">
                <a:solidFill>
                  <a:srgbClr val="1A56DB"/>
                </a:solidFill>
                <a:latin typeface="Arial"/>
                <a:hlinkClick r:id="rId5"/>
              </a:rPr>
              <a:t>[RFC 8032 / NIST SP 800-107 ↗]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2670048"/>
            <a:ext cx="5303520" cy="1371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502920" y="2560320"/>
            <a:ext cx="2560320" cy="219456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SOLUTIONS ALREADY EXIST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02920" y="281635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222222"/>
                </a:solidFill>
                <a:latin typeface="Arial"/>
              </a:defRPr>
            </a:pPr>
            <a:r>
              <a:t>&gt; Most existing systems perform generic syntax checks only, rely on unverified college spreadsheets, and issue opaque batch rejections.</a:t>
            </a:r>
          </a:p>
          <a:p>
            <a:pPr>
              <a:spcBef>
                <a:spcPts val="300"/>
              </a:spcBef>
              <a:defRPr sz="780" b="1">
                <a:solidFill>
                  <a:srgbClr val="64748B"/>
                </a:solidFill>
                <a:latin typeface="Arial"/>
              </a:defRPr>
            </a:pPr>
            <a:r>
              <a:t>&gt; AVAILABLE PORTALS : National Scholarship Portal (NSP) / State CET Portals / Legacy University ERPs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5760720" y="3154680"/>
            <a:ext cx="320040" cy="274320"/>
          </a:xfrm>
          <a:prstGeom prst="rightArrow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6172200" y="2670048"/>
            <a:ext cx="5623560" cy="1371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309360" y="2560320"/>
            <a:ext cx="2560320" cy="219456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OUR SOLUTION STANDS OUT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309360" y="2816352"/>
            <a:ext cx="5349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780" b="1">
                <a:solidFill>
                  <a:srgbClr val="1A365D"/>
                </a:solidFill>
                <a:latin typeface="Arial"/>
              </a:rPr>
              <a:t>&gt; Deterministic 3-Way Cross-Reconciliation : </a:t>
            </a:r>
            <a:r>
              <a:rPr sz="740">
                <a:solidFill>
                  <a:srgbClr val="222222"/>
                </a:solidFill>
                <a:latin typeface="Arial"/>
              </a:rPr>
              <a:t>Cross-checks declarations, staged records, and sanctioned capacity.</a:t>
            </a:r>
          </a:p>
          <a:p>
            <a:pPr>
              <a:spcBef>
                <a:spcPts val="150"/>
              </a:spcBef>
            </a:pPr>
            <a:r>
              <a:rPr sz="780" b="1">
                <a:solidFill>
                  <a:srgbClr val="1A365D"/>
                </a:solidFill>
                <a:latin typeface="Arial"/>
              </a:rPr>
              <a:t>&gt; Interactive Quarantine Sandbox : </a:t>
            </a:r>
            <a:r>
              <a:rPr sz="740">
                <a:solidFill>
                  <a:srgbClr val="222222"/>
                </a:solidFill>
                <a:latin typeface="Arial"/>
              </a:rPr>
              <a:t>Row-level discrepancy explanations and editable in-browser resubmission.</a:t>
            </a:r>
          </a:p>
          <a:p>
            <a:pPr>
              <a:spcBef>
                <a:spcPts val="150"/>
              </a:spcBef>
            </a:pPr>
            <a:r>
              <a:rPr sz="780" b="1">
                <a:solidFill>
                  <a:srgbClr val="1A365D"/>
                </a:solidFill>
                <a:latin typeface="Arial"/>
              </a:rPr>
              <a:t>&gt; Cryptographic Offline Trust : </a:t>
            </a:r>
            <a:r>
              <a:rPr sz="740">
                <a:solidFill>
                  <a:srgbClr val="222222"/>
                </a:solidFill>
                <a:latin typeface="Arial"/>
              </a:rPr>
              <a:t>Ed25519 digital signature receipts verifiable via QR code in &lt;50ms.</a:t>
            </a:r>
          </a:p>
          <a:p>
            <a:pPr>
              <a:spcBef>
                <a:spcPts val="150"/>
              </a:spcBef>
            </a:pPr>
            <a:r>
              <a:rPr sz="780" b="1">
                <a:solidFill>
                  <a:srgbClr val="1A365D"/>
                </a:solidFill>
                <a:latin typeface="Arial"/>
              </a:rPr>
              <a:t>&gt; Privacy-by-Design DPDP Shield : </a:t>
            </a:r>
            <a:r>
              <a:rPr sz="740">
                <a:solidFill>
                  <a:srgbClr val="222222"/>
                </a:solidFill>
                <a:latin typeface="Arial"/>
              </a:rPr>
              <a:t>Keyed HMAC-SHA256 indexing ensures zero plaintext APAAR stored in database.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4160520"/>
            <a:ext cx="6035040" cy="2011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502920" y="4050791"/>
            <a:ext cx="2926080" cy="219456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PROJECT RESOURCES (CLICKABLE LINKS)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02920" y="4315968"/>
            <a:ext cx="4389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00" b="1">
                <a:solidFill>
                  <a:srgbClr val="112266"/>
                </a:solidFill>
                <a:latin typeface="Arial"/>
              </a:rPr>
              <a:t>&gt; Live Web Platform : </a:t>
            </a:r>
            <a:r>
              <a:rPr sz="780" b="1">
                <a:solidFill>
                  <a:srgbClr val="1A56DB"/>
                </a:solidFill>
                <a:latin typeface="Arial"/>
                <a:hlinkClick r:id="rId4"/>
              </a:rPr>
              <a:t>https://brainforge.info</a:t>
            </a:r>
            <a:r>
              <a:rPr sz="740">
                <a:solidFill>
                  <a:srgbClr val="222222"/>
                </a:solidFill>
                <a:latin typeface="Arial"/>
              </a:rPr>
              <a:t> (Vercel Edge with custom domain &amp; Let's Encrypt SSL)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12266"/>
                </a:solidFill>
                <a:latin typeface="Arial"/>
              </a:rPr>
              <a:t>&gt; Alternate Domain : </a:t>
            </a:r>
            <a:r>
              <a:rPr sz="780" b="1">
                <a:solidFill>
                  <a:srgbClr val="1A56DB"/>
                </a:solidFill>
                <a:latin typeface="Arial"/>
                <a:hlinkClick r:id="rId6"/>
              </a:rPr>
              <a:t>https://pramaan.brainforge.info</a:t>
            </a:r>
            <a:r>
              <a:rPr sz="740">
                <a:solidFill>
                  <a:srgbClr val="222222"/>
                </a:solidFill>
                <a:latin typeface="Arial"/>
              </a:rPr>
              <a:t> (Secondary alias resolving 24/7 globally)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12266"/>
                </a:solidFill>
                <a:latin typeface="Arial"/>
              </a:rPr>
              <a:t>&gt; Interactive API Docs : </a:t>
            </a:r>
            <a:r>
              <a:rPr sz="780" b="1">
                <a:solidFill>
                  <a:srgbClr val="1A56DB"/>
                </a:solidFill>
                <a:latin typeface="Arial"/>
                <a:hlinkClick r:id="rId5"/>
              </a:rPr>
              <a:t>https://apaar-id-based-system.onrender.com/docs</a:t>
            </a:r>
            <a:r>
              <a:rPr sz="740">
                <a:solidFill>
                  <a:srgbClr val="222222"/>
                </a:solidFill>
                <a:latin typeface="Arial"/>
              </a:rPr>
              <a:t> (FastAPI OpenAPI 3.1 with 73 live endpoints)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12266"/>
                </a:solidFill>
                <a:latin typeface="Arial"/>
              </a:rPr>
              <a:t>&gt; Open-Source GitHub : </a:t>
            </a:r>
            <a:r>
              <a:rPr sz="780" b="1">
                <a:solidFill>
                  <a:srgbClr val="1A56DB"/>
                </a:solidFill>
                <a:latin typeface="Arial"/>
                <a:hlinkClick r:id="rId7"/>
              </a:rPr>
              <a:t>https://github.com/naveeshpcbin/APAAR-ID-BASED-SYSTEM</a:t>
            </a:r>
            <a:r>
              <a:rPr sz="740">
                <a:solidFill>
                  <a:srgbClr val="222222"/>
                </a:solidFill>
                <a:latin typeface="Arial"/>
              </a:rPr>
              <a:t> (Full source code, 20 models, Alembic migrations)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112266"/>
                </a:solidFill>
                <a:latin typeface="Arial"/>
              </a:rPr>
              <a:t>&gt; Automated Tests : </a:t>
            </a:r>
            <a:r>
              <a:rPr sz="780" b="1">
                <a:solidFill>
                  <a:srgbClr val="008C6E"/>
                </a:solidFill>
                <a:latin typeface="Arial"/>
              </a:rPr>
              <a:t>66/66 Unit Tests + 20/20 Phase F E2E Checks Passing</a:t>
            </a:r>
            <a:r>
              <a:rPr sz="740">
                <a:solidFill>
                  <a:srgbClr val="222222"/>
                </a:solidFill>
                <a:latin typeface="Arial"/>
              </a:rPr>
              <a:t> (100% verified locally &amp; on live cloud)</a:t>
            </a:r>
          </a:p>
        </p:txBody>
      </p:sp>
      <p:pic>
        <p:nvPicPr>
          <p:cNvPr id="17422" name="Picture 17421" descr="qrcode_brainfor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4343400"/>
            <a:ext cx="1234440" cy="1234440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892040" y="5596128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b="1">
                <a:solidFill>
                  <a:srgbClr val="1A365D"/>
                </a:solidFill>
                <a:latin typeface="Arial"/>
              </a:defRPr>
            </a:pPr>
            <a:r>
              <a:t>Scan to Open Platform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583680" y="4160520"/>
            <a:ext cx="5212080" cy="2011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6720840" y="4050791"/>
            <a:ext cx="3108960" cy="219456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PROTOTYPE EVIDENCE: SHA-256 AUDIT LEDGER</a:t>
            </a:r>
          </a:p>
        </p:txBody>
      </p:sp>
      <p:pic>
        <p:nvPicPr>
          <p:cNvPr id="17426" name="Picture 17425" descr="slide_6_Picture 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343400"/>
            <a:ext cx="2926080" cy="1691640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9738360" y="4343400"/>
            <a:ext cx="1965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12266"/>
                </a:solidFill>
                <a:latin typeface="Arial"/>
              </a:defRPr>
            </a:pPr>
            <a:r>
              <a:t>Tamper-Evident Audit Ledger:</a:t>
            </a:r>
          </a:p>
          <a:p>
            <a:pPr>
              <a:spcBef>
                <a:spcPts val="200"/>
              </a:spcBef>
              <a:defRPr sz="740">
                <a:solidFill>
                  <a:srgbClr val="222222"/>
                </a:solidFill>
                <a:latin typeface="Arial"/>
              </a:defRPr>
            </a:pPr>
            <a:r>
              <a:t>Mathematical SHA-256 sequential hash chaining proves non-tampering of all admissions, commits, and regulatory approvals.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7502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Rohith Mahendran</cp:lastModifiedBy>
  <cp:revision>149</cp:revision>
  <dcterms:created xsi:type="dcterms:W3CDTF">2013-12-12T18:46:50Z</dcterms:created>
  <dcterms:modified xsi:type="dcterms:W3CDTF">2026-10-23T14:08:40Z</dcterms:modified>
  <cp:category/>
</cp:coreProperties>
</file>