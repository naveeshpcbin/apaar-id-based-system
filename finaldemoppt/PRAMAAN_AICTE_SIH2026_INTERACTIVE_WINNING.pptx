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brainforge.info" TargetMode="External"/><Relationship Id="rId5" Type="http://schemas.openxmlformats.org/officeDocument/2006/relationships/hyperlink" Target="https://apaar-id-based-system.onrender.com/docs" TargetMode="External"/><Relationship Id="rId6" Type="http://schemas.openxmlformats.org/officeDocument/2006/relationships/hyperlink" Target="https://github.com/naveeshpcbin/APAAR-ID-BASED-SYSTE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apaar-id-based-system.onrender.com/docs" TargetMode="External"/><Relationship Id="rId5" Type="http://schemas.openxmlformats.org/officeDocument/2006/relationships/hyperlink" Target="https://brainforge.inf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brainforge.info" TargetMode="External"/><Relationship Id="rId5" Type="http://schemas.openxmlformats.org/officeDocument/2006/relationships/hyperlink" Target="https://apaar-id-based-system.onrender.com/docs" TargetMode="External"/><Relationship Id="rId6" Type="http://schemas.openxmlformats.org/officeDocument/2006/relationships/hyperlink" Target="https://pramaan.brainforge.info" TargetMode="External"/><Relationship Id="rId7" Type="http://schemas.openxmlformats.org/officeDocument/2006/relationships/hyperlink" Target="https://github.com/naveeshpcbin/APAAR-ID-BASED-SYSTEM" TargetMode="External"/><Relationship Id="rId8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868680"/>
            <a:ext cx="5943600" cy="365760"/>
          </a:xfrm>
        </p:spPr>
        <p:txBody>
          <a:bodyPr wrap="square"/>
          <a:lstStyle/>
          <a:p>
            <a:pPr algn="l">
              <a:defRPr sz="1400" b="1">
                <a:solidFill>
                  <a:srgbClr val="008C6E"/>
                </a:solidFill>
                <a:latin typeface="Arial"/>
              </a:defRPr>
            </a:pPr>
            <a: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182880"/>
            <a:ext cx="9326880" cy="822960"/>
          </a:xfrm>
        </p:spPr>
        <p:txBody>
          <a:bodyPr wrap="square"/>
          <a:lstStyle/>
          <a:p>
            <a:pPr algn="l">
              <a:defRPr sz="2800" b="1">
                <a:solidFill>
                  <a:srgbClr val="112266"/>
                </a:solidFill>
                <a:latin typeface="Arial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6217920" cy="4892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Problem Statement ID: </a:t>
            </a:r>
            <a:r>
              <a:rPr sz="1300" b="1">
                <a:solidFill>
                  <a:srgbClr val="112266"/>
                </a:solidFill>
                <a:latin typeface="Arial"/>
              </a:rPr>
              <a:t>SIH26263</a:t>
            </a:r>
            <a:endParaRPr lang="en-US" dirty="0"/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Problem Statement Title: </a:t>
            </a:r>
            <a:r>
              <a:rPr sz="1100" b="0">
                <a:solidFill>
                  <a:srgbClr val="1A365D"/>
                </a:solidFill>
                <a:latin typeface="Arial"/>
              </a:rPr>
              <a:t>Development of an APAAR ID-Based Student Data Management and Verification Platform for AICTE-Approved Institutions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Theme: </a:t>
            </a:r>
            <a:r>
              <a:rPr sz="1100" b="0">
                <a:solidFill>
                  <a:srgbClr val="222222"/>
                </a:solidFill>
                <a:latin typeface="Arial"/>
              </a:rPr>
              <a:t>Smart Automation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PS Category: </a:t>
            </a:r>
            <a:r>
              <a:rPr sz="1100" b="0">
                <a:solidFill>
                  <a:srgbClr val="222222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Team ID: </a:t>
            </a:r>
            <a:r>
              <a:rPr sz="1100" b="0">
                <a:solidFill>
                  <a:srgbClr val="222222"/>
                </a:solidFill>
                <a:latin typeface="Arial"/>
              </a:rPr>
              <a:t>TCE_Yquanto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Team Name: </a:t>
            </a:r>
            <a:r>
              <a:rPr sz="1150" b="1">
                <a:solidFill>
                  <a:srgbClr val="112266"/>
                </a:solidFill>
                <a:latin typeface="Arial"/>
              </a:rPr>
              <a:t>TCE_Yquanto (Thiagarajar College of Engineering, Madurai)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Institute Name: </a:t>
            </a:r>
            <a:r>
              <a:rPr sz="1100" b="0">
                <a:solidFill>
                  <a:srgbClr val="1A365D"/>
                </a:solidFill>
                <a:latin typeface="Arial"/>
              </a:rPr>
              <a:t>Thiagarajar College of Engineering, Madurai, Tamil Nadu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Live Web Platform: </a:t>
            </a:r>
            <a:r>
              <a:rPr sz="1050" b="1">
                <a:solidFill>
                  <a:srgbClr val="008C6E"/>
                </a:solidFill>
                <a:latin typeface="Arial"/>
                <a:hlinkClick r:id="rId4"/>
              </a:rPr>
              <a:t>https://brainforge.info  |  https://pramaan.brainforge.info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Live Backend &amp; API: </a:t>
            </a:r>
            <a:r>
              <a:rPr sz="1050" b="1">
                <a:solidFill>
                  <a:srgbClr val="008C6E"/>
                </a:solidFill>
                <a:latin typeface="Arial"/>
                <a:hlinkClick r:id="rId5"/>
              </a:rPr>
              <a:t>https://apaar-id-based-system.onrender.com/docs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Source Repository: </a:t>
            </a:r>
            <a:r>
              <a:rPr sz="1050" b="1">
                <a:solidFill>
                  <a:srgbClr val="1A56DB"/>
                </a:solidFill>
                <a:latin typeface="Arial"/>
                <a:hlinkClick r:id="rId6"/>
              </a:rPr>
              <a:t>https://github.com/naveeshpcbin/APAAR-ID-BASED-SYSTEM</a:t>
            </a:r>
          </a:p>
          <a:p>
            <a:pPr>
              <a:spcBef>
                <a:spcPts val="400"/>
              </a:spcBef>
            </a:pPr>
            <a:r>
              <a:rPr sz="1080" b="1">
                <a:solidFill>
                  <a:srgbClr val="112266"/>
                </a:solidFill>
                <a:latin typeface="Arial"/>
              </a:rPr>
              <a:t>Verification Status: </a:t>
            </a:r>
            <a:r>
              <a:rPr sz="1050" b="1">
                <a:solidFill>
                  <a:srgbClr val="008C6E"/>
                </a:solidFill>
                <a:latin typeface="Arial"/>
              </a:rPr>
              <a:t>66/66 Passing Tests | 20 Tables with RLS | Live Cloud Verified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6382512"/>
            <a:ext cx="6702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38251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37160"/>
            <a:ext cx="8092440" cy="82296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P R A M A A N - A I C T E (Student Data &amp; Verification Platform)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008C6E"/>
                </a:solidFill>
                <a:latin typeface="Arial"/>
              </a:defRPr>
            </a:pPr>
            <a:r>
              <a:t>ARCHITECTURE - Innovation (Problem Existing vs Proposed Solution vs UVP)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64592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097280"/>
            <a:ext cx="56235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475488" y="987552"/>
            <a:ext cx="2011680" cy="237744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PROBLEM EXISTING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02920" y="1243584"/>
            <a:ext cx="5349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Fragmented Institutional Data : </a:t>
            </a:r>
            <a:r>
              <a:rPr sz="800">
                <a:solidFill>
                  <a:srgbClr val="222222"/>
                </a:solidFill>
                <a:latin typeface="Arial"/>
              </a:rPr>
              <a:t>Divergent college ERP spreadsheet schemas, non-standard column headers, and unverified declarations.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Reconciliation Bottlenecks : </a:t>
            </a:r>
            <a:r>
              <a:rPr sz="800">
                <a:solidFill>
                  <a:srgbClr val="222222"/>
                </a:solidFill>
                <a:latin typeface="Arial"/>
              </a:rPr>
              <a:t>Difficulties cross-verifying declared enrolments against actual student records and AICTE approval ceilings.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Intake &amp; Duplicate Risks : </a:t>
            </a:r>
            <a:r>
              <a:rPr sz="800">
                <a:solidFill>
                  <a:srgbClr val="222222"/>
                </a:solidFill>
                <a:latin typeface="Arial"/>
              </a:rPr>
              <a:t>Lack of automated visibility into over-intake breaches, quota diversion, and concurrent multi-college claims.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2377440"/>
            <a:ext cx="5623560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75488" y="2267712"/>
            <a:ext cx="2011680" cy="237744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02920" y="2523744"/>
            <a:ext cx="534924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&gt; Resilient One-Click Ingestion : </a:t>
            </a:r>
            <a:r>
              <a:rPr sz="800">
                <a:solidFill>
                  <a:srgbClr val="222222"/>
                </a:solidFill>
                <a:latin typeface="Arial"/>
              </a:rPr>
              <a:t>Sub-50ms regex mapping resolves 50+ divergent college ERP column headers (apaar_no, uid -&gt; apaar_id).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&gt; Autonomous 3-Way Reconciliation : </a:t>
            </a:r>
            <a:r>
              <a:rPr sz="800">
                <a:solidFill>
                  <a:srgbClr val="222222"/>
                </a:solidFill>
                <a:latin typeface="Arial"/>
              </a:rPr>
              <a:t>Deterministic Python core cross-checks declarations, staged uploads, and approved intake ceilings.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&gt; Tamper-Proof Digital Verification Receipt : </a:t>
            </a:r>
            <a:r>
              <a:rPr sz="800">
                <a:solidFill>
                  <a:srgbClr val="222222"/>
                </a:solidFill>
                <a:latin typeface="Arial"/>
              </a:rPr>
              <a:t>Issues Ed25519 (Curve25519) asymmetric signed verification receipts with offline verifiable QR codes.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08C6E"/>
                </a:solidFill>
                <a:latin typeface="Arial"/>
              </a:rPr>
              <a:t>&gt; Student Academic Passport : </a:t>
            </a:r>
            <a:r>
              <a:rPr sz="800">
                <a:solidFill>
                  <a:srgbClr val="222222"/>
                </a:solidFill>
                <a:latin typeface="Arial"/>
              </a:rPr>
              <a:t>Digitally anchored credentials linking Student Roll No with masked APAAR ID and verified quota status.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65760" y="4041648"/>
            <a:ext cx="56235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75488" y="3931920"/>
            <a:ext cx="2834640" cy="237744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UVP (UNIQUE VALUE PROPOSITION)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502920" y="4187952"/>
            <a:ext cx="534924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100% Deterministic Python Engine : </a:t>
            </a:r>
            <a:r>
              <a:rPr sz="800">
                <a:solidFill>
                  <a:srgbClr val="222222"/>
                </a:solidFill>
                <a:latin typeface="Arial"/>
              </a:rPr>
              <a:t>Explicit rule sets for sanctioned intake and supernumerary quotas eliminate opaque AI hallucinations.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Zero Plaintext APAAR Privacy Shield : </a:t>
            </a:r>
            <a:r>
              <a:rPr sz="800">
                <a:solidFill>
                  <a:srgbClr val="222222"/>
                </a:solidFill>
                <a:latin typeface="Arial"/>
              </a:rPr>
              <a:t>Keyed HMAC-SHA256 pseudonymized indexing and dynamic masking satisfy DPDP Act 2023 mandates.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Offline Mathematical Trust : </a:t>
            </a:r>
            <a:r>
              <a:rPr sz="800">
                <a:solidFill>
                  <a:srgbClr val="222222"/>
                </a:solidFill>
                <a:latin typeface="Arial"/>
              </a:rPr>
              <a:t>Edwards-Curve Digital Signatures (RFC 8032) allow verifiers to validate certificates without server queries.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56DB"/>
                </a:solidFill>
                <a:latin typeface="Arial"/>
              </a:rPr>
              <a:t>&gt; Tamper-Evident SHA-256 Ledger : </a:t>
            </a:r>
            <a:r>
              <a:rPr sz="800">
                <a:solidFill>
                  <a:srgbClr val="222222"/>
                </a:solidFill>
                <a:latin typeface="Arial"/>
              </a:rPr>
              <a:t>Sequential hash-chaining (Hash_n = SHA256(Record_n || Hash_n-1)) mathematically exposes any alteration.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172200" y="1097280"/>
            <a:ext cx="5623560" cy="45171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309360" y="987552"/>
            <a:ext cx="1645920" cy="237744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ARCHITECTURE</a:t>
            </a:r>
          </a:p>
        </p:txBody>
      </p:sp>
      <p:pic>
        <p:nvPicPr>
          <p:cNvPr id="15373" name="Picture 15372" descr="slide_2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298448"/>
            <a:ext cx="5404104" cy="292608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6281928" y="4297680"/>
            <a:ext cx="540410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Central Intake Intelligence : </a:t>
            </a:r>
            <a:r>
              <a:rPr sz="780">
                <a:solidFill>
                  <a:srgbClr val="222222"/>
                </a:solidFill>
                <a:latin typeface="Arial"/>
              </a:rPr>
              <a:t>Live monitoring of sanctioned intake vs enrolled students across B.Tech, MCA, and Diploma.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Deterministic Review Desk : </a:t>
            </a:r>
            <a:r>
              <a:rPr sz="780">
                <a:solidFill>
                  <a:srgbClr val="222222"/>
                </a:solidFill>
                <a:latin typeface="Arial"/>
              </a:rPr>
              <a:t>Instant identification of seat limit breaches, unverified candidates, and duplicate claims.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Multi-Tenant Governance : </a:t>
            </a:r>
            <a:r>
              <a:rPr sz="780">
                <a:solidFill>
                  <a:srgbClr val="222222"/>
                </a:solidFill>
                <a:latin typeface="Arial"/>
              </a:rPr>
              <a:t>Seamless institutional isolation between AICTE Central Regulators, DTU Delhi, and COEP Pune.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65760" y="5742432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8C6E"/>
                </a:solidFill>
                <a:latin typeface="Arial"/>
              </a:defRPr>
            </a:pPr>
            <a:r>
              <a:t>Deterministic Python Core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246120" y="5742432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1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12266"/>
                </a:solidFill>
                <a:latin typeface="Arial"/>
              </a:defRPr>
            </a:pPr>
            <a:r>
              <a:t>3-Way Cross-Reconciliation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172200" y="5742432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A365D"/>
                </a:solidFill>
                <a:latin typeface="Arial"/>
              </a:defRPr>
            </a:pPr>
            <a:r>
              <a:t>Cryptographic Verification &amp; Audit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9098280" y="5742432"/>
            <a:ext cx="269748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8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8C6E"/>
                </a:solidFill>
                <a:latin typeface="Arial"/>
              </a:defRPr>
            </a:pPr>
            <a:r>
              <a:t>66/66 Verified Passing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37160"/>
            <a:ext cx="8092440" cy="82296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T E C H N I C A L   A P P R O A C H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008C6E"/>
                </a:solidFill>
                <a:latin typeface="Arial"/>
              </a:defRPr>
            </a:pPr>
            <a:r>
              <a:t>Multi-Tier Ingestion Flow &amp; Autonomous Governance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64592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05840"/>
            <a:ext cx="5303520" cy="320040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🚀 Start Here: College ERP Spreadsheet OR CSV Dataset?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463040"/>
            <a:ext cx="35661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353312"/>
            <a:ext cx="3291840" cy="25603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 1: FAST-TRACK (Clean Data)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1645920"/>
            <a:ext cx="3346704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1. Ingestion Desk -&gt; </a:t>
            </a:r>
            <a:r>
              <a:rPr sz="780">
                <a:solidFill>
                  <a:srgbClr val="222222"/>
                </a:solidFill>
                <a:latin typeface="Arial"/>
              </a:rPr>
              <a:t>CSV/XLSX uploaded by college.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2. Header Normalizer -&gt; </a:t>
            </a:r>
            <a:r>
              <a:rPr sz="780">
                <a:solidFill>
                  <a:srgbClr val="222222"/>
                </a:solidFill>
                <a:latin typeface="Arial"/>
              </a:rPr>
              <a:t>Auto-maps aliases to schema in &lt;50ms.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3. Deterministic Engine -&gt; </a:t>
            </a:r>
            <a:r>
              <a:rPr sz="780">
                <a:solidFill>
                  <a:srgbClr val="222222"/>
                </a:solidFill>
                <a:latin typeface="Arial"/>
              </a:rPr>
              <a:t>Pure Python syntax &amp; Verhoeff check.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4. Quota Verification -&gt; </a:t>
            </a:r>
            <a:r>
              <a:rPr sz="780">
                <a:solidFill>
                  <a:srgbClr val="222222"/>
                </a:solidFill>
                <a:latin typeface="Arial"/>
              </a:rPr>
              <a:t>Sanctioned capacity ceiling verified.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5. Two-Phase Commit -&gt; </a:t>
            </a:r>
            <a:r>
              <a:rPr sz="780">
                <a:solidFill>
                  <a:srgbClr val="222222"/>
                </a:solidFill>
                <a:latin typeface="Arial"/>
              </a:rPr>
              <a:t>Staged to verified StudentIdentity table.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6. Verification Ready -&gt; </a:t>
            </a:r>
            <a:r>
              <a:rPr sz="780">
                <a:solidFill>
                  <a:srgbClr val="222222"/>
                </a:solidFill>
                <a:latin typeface="Arial"/>
              </a:rPr>
              <a:t>Instant Ed25519 digital receipt issued.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069080" y="1463040"/>
            <a:ext cx="35661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206240" y="1353312"/>
            <a:ext cx="3291840" cy="256032"/>
          </a:xfrm>
          <a:prstGeom prst="roundRect">
            <a:avLst/>
          </a:prstGeom>
          <a:solidFill>
            <a:srgbClr val="DC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 2: QUARANTINE (Errors/Breaches)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178808" y="1645920"/>
            <a:ext cx="3346704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1. Anomaly Flagged -&gt; </a:t>
            </a:r>
            <a:r>
              <a:rPr sz="780">
                <a:solidFill>
                  <a:srgbClr val="222222"/>
                </a:solidFill>
                <a:latin typeface="Arial"/>
              </a:rPr>
              <a:t>Syntax error, duplicate, or quota breach.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2. Quarantine Sandbox -&gt; </a:t>
            </a:r>
            <a:r>
              <a:rPr sz="780">
                <a:solidFill>
                  <a:srgbClr val="222222"/>
                </a:solidFill>
                <a:latin typeface="Arial"/>
              </a:rPr>
              <a:t>Isolates disputed rows before commit.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3. In-Browser Editing -&gt; </a:t>
            </a:r>
            <a:r>
              <a:rPr sz="780">
                <a:solidFill>
                  <a:srgbClr val="222222"/>
                </a:solidFill>
                <a:latin typeface="Arial"/>
              </a:rPr>
              <a:t>Registrar corrects row data directly.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4. Deterministic Recheck -&gt; </a:t>
            </a:r>
            <a:r>
              <a:rPr sz="780">
                <a:solidFill>
                  <a:srgbClr val="222222"/>
                </a:solidFill>
                <a:latin typeface="Arial"/>
              </a:rPr>
              <a:t>Pure Python re-runs rule engine live.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5. Audit Record Chained -&gt; </a:t>
            </a:r>
            <a:r>
              <a:rPr sz="780">
                <a:solidFill>
                  <a:srgbClr val="222222"/>
                </a:solidFill>
                <a:latin typeface="Arial"/>
              </a:rPr>
              <a:t>Modifications chained with SHA-256.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6. Council Commit -&gt; </a:t>
            </a:r>
            <a:r>
              <a:rPr sz="780">
                <a:solidFill>
                  <a:srgbClr val="222222"/>
                </a:solidFill>
                <a:latin typeface="Arial"/>
              </a:rPr>
              <a:t>Clean rows approved by central desk.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772400" y="1463040"/>
            <a:ext cx="40233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7909560" y="1353312"/>
            <a:ext cx="3749040" cy="256032"/>
          </a:xfrm>
          <a:prstGeom prst="roundRect">
            <a:avLst/>
          </a:prstGeom>
          <a:solidFill>
            <a:srgbClr val="18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 3: RADAR (Concurrent Claims)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882128" y="1645920"/>
            <a:ext cx="3803904" cy="3072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1. National Radar -&gt; </a:t>
            </a:r>
            <a:r>
              <a:rPr sz="780">
                <a:solidFill>
                  <a:srgbClr val="222222"/>
                </a:solidFill>
                <a:latin typeface="Arial"/>
              </a:rPr>
              <a:t>Cross-checks active admissions nationwide.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2. Collision Detected -&gt; </a:t>
            </a:r>
            <a:r>
              <a:rPr sz="780">
                <a:solidFill>
                  <a:srgbClr val="222222"/>
                </a:solidFill>
                <a:latin typeface="Arial"/>
              </a:rPr>
              <a:t>Flags identical student in 2 colleges.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3. Central Review Desk -&gt; </a:t>
            </a:r>
            <a:r>
              <a:rPr sz="780">
                <a:solidFill>
                  <a:srgbClr val="222222"/>
                </a:solidFill>
                <a:latin typeface="Arial"/>
              </a:rPr>
              <a:t>Side-by-side college admission audit.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4. Adjudication Action -&gt; </a:t>
            </a:r>
            <a:r>
              <a:rPr sz="780">
                <a:solidFill>
                  <a:srgbClr val="222222"/>
                </a:solidFill>
                <a:latin typeface="Arial"/>
              </a:rPr>
              <a:t>Council confirms valid vs invalid seat.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5. Quota Restored -&gt; </a:t>
            </a:r>
            <a:r>
              <a:rPr sz="780">
                <a:solidFill>
                  <a:srgbClr val="222222"/>
                </a:solidFill>
                <a:latin typeface="Arial"/>
              </a:rPr>
              <a:t>Vacated seat auto-returned to quota pool.</a:t>
            </a:r>
          </a:p>
          <a:p>
            <a:pPr>
              <a:spcBef>
                <a:spcPts val="3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6. Tamper-Proof Audit -&gt; </a:t>
            </a:r>
            <a:r>
              <a:rPr sz="780">
                <a:solidFill>
                  <a:srgbClr val="222222"/>
                </a:solidFill>
                <a:latin typeface="Arial"/>
              </a:rPr>
              <a:t>Reviewer justification signed in ledger.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4892040"/>
            <a:ext cx="53035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4782312"/>
            <a:ext cx="1463040" cy="219456"/>
          </a:xfrm>
          <a:prstGeom prst="roundRect">
            <a:avLst/>
          </a:prstGeom>
          <a:solidFill>
            <a:srgbClr val="112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02920" y="502920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Frontend Client : </a:t>
            </a:r>
            <a:r>
              <a:rPr sz="760">
                <a:solidFill>
                  <a:srgbClr val="222222"/>
                </a:solidFill>
                <a:latin typeface="Arial"/>
              </a:rPr>
              <a:t>Next.js 14 App Router, TypeScript, Tailwind CSS, Recharts (Vercel Edge)</a:t>
            </a:r>
          </a:p>
          <a:p>
            <a:pPr>
              <a:spcBef>
                <a:spcPts val="15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Backend Services : </a:t>
            </a:r>
            <a:r>
              <a:rPr sz="760">
                <a:solidFill>
                  <a:srgbClr val="222222"/>
                </a:solidFill>
                <a:latin typeface="Arial"/>
              </a:rPr>
              <a:t>Python 3.10+, FastAPI (Modular Monolith), Pydantic v2, Uvicorn, 73 Endpoints (Render Cloud)</a:t>
            </a:r>
          </a:p>
          <a:p>
            <a:pPr>
              <a:spcBef>
                <a:spcPts val="15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Persistence &amp; RLS : </a:t>
            </a:r>
            <a:r>
              <a:rPr sz="760">
                <a:solidFill>
                  <a:srgbClr val="222222"/>
                </a:solidFill>
                <a:latin typeface="Arial"/>
              </a:rPr>
              <a:t>Supabase Managed PostgreSQL 17.11 (20 Relational Tables, Row Level Security Active)</a:t>
            </a:r>
          </a:p>
          <a:p>
            <a:pPr>
              <a:spcBef>
                <a:spcPts val="15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Cryptography : </a:t>
            </a:r>
            <a:r>
              <a:rPr sz="760">
                <a:solidFill>
                  <a:srgbClr val="222222"/>
                </a:solidFill>
                <a:latin typeface="Arial"/>
              </a:rPr>
              <a:t>Ed25519 (RFC 8032 Asymmetric Keys), Keyed HMAC-SHA256, Sequential SHA-256 Audit Chaining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852160" y="4892040"/>
            <a:ext cx="59436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5989320" y="4782312"/>
            <a:ext cx="2926080" cy="219456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EVIDENCE: INGESTION DESK</a:t>
            </a:r>
          </a:p>
        </p:txBody>
      </p:sp>
      <p:pic>
        <p:nvPicPr>
          <p:cNvPr id="17425" name="Picture 17424" descr="slide_3_Picture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029200"/>
            <a:ext cx="2743200" cy="100584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8823960" y="50292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80">
                <a:solidFill>
                  <a:srgbClr val="222222"/>
                </a:solidFill>
                <a:latin typeface="Arial"/>
              </a:defRPr>
            </a:pPr>
            <a:r>
              <a:t>Smart Ingestion Desk: Sub-50ms automated schema mapping, pre-flight validation status, row findings ledger, and atomic batch commitment.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37160"/>
            <a:ext cx="8092440" cy="82296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F E A S I B I L I T Y   A N D   V I A B I L I T Y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008C6E"/>
                </a:solidFill>
                <a:latin typeface="Arial"/>
              </a:defRPr>
            </a:pPr>
            <a:r>
              <a:t>Engineering Proof, Economic Defensibility &amp; Risk Mitigation Framework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64592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97280"/>
            <a:ext cx="56235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987552"/>
            <a:ext cx="1645920" cy="237744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FEASIBILITY :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261872"/>
            <a:ext cx="53492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&gt; Technical : </a:t>
            </a:r>
            <a:r>
              <a:rPr sz="800">
                <a:solidFill>
                  <a:srgbClr val="222222"/>
                </a:solidFill>
                <a:latin typeface="Arial"/>
              </a:rPr>
              <a:t>Next.js 14, FastAPI, Supabase PostgreSQL 17.11 (20 tables, RLS active). 66/66 automated tests passing across 14 test suites.</a:t>
            </a:r>
            <a:r>
              <a:rPr sz="800" b="1">
                <a:solidFill>
                  <a:srgbClr val="1A56DB"/>
                </a:solidFill>
                <a:latin typeface="Arial"/>
                <a:hlinkClick r:id="rId4"/>
              </a:rPr>
              <a:t> [LINK ↗]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&gt; Innovation : </a:t>
            </a:r>
            <a:r>
              <a:rPr sz="800">
                <a:solidFill>
                  <a:srgbClr val="222222"/>
                </a:solidFill>
                <a:latin typeface="Arial"/>
              </a:rPr>
              <a:t>Pure Deterministic 3-Way Reconciliation Engine — World's first explainable academic quota defense avoiding opaque AI errors.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&gt; Operational : </a:t>
            </a:r>
            <a:r>
              <a:rPr sz="800">
                <a:solidFill>
                  <a:srgbClr val="222222"/>
                </a:solidFill>
                <a:latin typeface="Arial"/>
              </a:rPr>
              <a:t>Zero specialized hardware required. Standard modern browser access across Windows, Linux, and macOS.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12266"/>
                </a:solidFill>
                <a:latin typeface="Arial"/>
              </a:rPr>
              <a:t>&gt; Economic : </a:t>
            </a:r>
            <a:r>
              <a:rPr sz="800">
                <a:solidFill>
                  <a:srgbClr val="222222"/>
                </a:solidFill>
                <a:latin typeface="Arial"/>
              </a:rPr>
              <a:t>Replaces manual paperwork, prolonged paper audits, and physical affidavit logistics with instant digital verification.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097280"/>
            <a:ext cx="56235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987552"/>
            <a:ext cx="1645920" cy="237744"/>
          </a:xfrm>
          <a:prstGeom prst="roundRect">
            <a:avLst/>
          </a:prstGeom>
          <a:solidFill>
            <a:srgbClr val="18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VIABILITY :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09360" y="1261872"/>
            <a:ext cx="53492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Regulatory Scope : </a:t>
            </a:r>
            <a:r>
              <a:rPr sz="800">
                <a:solidFill>
                  <a:srgbClr val="222222"/>
                </a:solidFill>
                <a:latin typeface="Arial"/>
              </a:rPr>
              <a:t>Strictly enforces AICTE Approval Process Handbook (APH 2026-27), NEP 2020, and DPDP Act 2023 mandates.</a:t>
            </a:r>
            <a:r>
              <a:rPr sz="800" b="1">
                <a:solidFill>
                  <a:srgbClr val="008C6E"/>
                </a:solidFill>
                <a:latin typeface="Arial"/>
                <a:hlinkClick r:id="rId5"/>
              </a:rPr>
              <a:t> [LIVE PLATFORM ↗]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Policy &amp; Revenue : </a:t>
            </a:r>
            <a:r>
              <a:rPr sz="800">
                <a:solidFill>
                  <a:srgbClr val="222222"/>
                </a:solidFill>
                <a:latin typeface="Arial"/>
              </a:rPr>
              <a:t>Prevents ₹100s of Crores in ghost-seat grant diversion; provides verifiable digital credential authentication service.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Investment &amp; ROI : </a:t>
            </a:r>
            <a:r>
              <a:rPr sz="800">
                <a:solidFill>
                  <a:srgbClr val="222222"/>
                </a:solidFill>
                <a:latin typeface="Arial"/>
              </a:rPr>
              <a:t>Minimal serverless hosting overhead; deployed on Vercel Edge + Render Cloud; break-even within 6 months.</a:t>
            </a:r>
          </a:p>
          <a:p>
            <a:pPr>
              <a:spcBef>
                <a:spcPts val="3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Scalability : </a:t>
            </a:r>
            <a:r>
              <a:rPr sz="800">
                <a:solidFill>
                  <a:srgbClr val="222222"/>
                </a:solidFill>
                <a:latin typeface="Arial"/>
              </a:rPr>
              <a:t>Sub-50ms deterministic validation per batch; cloud architecture ready for nationwide expansion across 10,000+ colleges.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3657600"/>
            <a:ext cx="56235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3547872"/>
            <a:ext cx="2560320" cy="237744"/>
          </a:xfrm>
          <a:prstGeom prst="round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TECHNICAL CHALLENGES :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2920" y="3822191"/>
            <a:ext cx="53492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30" b="1">
                <a:solidFill>
                  <a:srgbClr val="B42828"/>
                </a:solidFill>
                <a:latin typeface="Arial"/>
              </a:rPr>
              <a:t>Risk : Inconsistent College Spreadsheets : </a:t>
            </a:r>
            <a:r>
              <a:rPr sz="780">
                <a:solidFill>
                  <a:srgbClr val="222222"/>
                </a:solidFill>
                <a:latin typeface="Arial"/>
              </a:rPr>
              <a:t>Colleges use divergent ERP schemas and column headers (apaar_no, uid, student_apaar).</a:t>
            </a:r>
          </a:p>
          <a:p>
            <a:pPr>
              <a:spcBef>
                <a:spcPts val="250"/>
              </a:spcBef>
            </a:pPr>
            <a:r>
              <a:rPr sz="830" b="1">
                <a:solidFill>
                  <a:srgbClr val="008C6E"/>
                </a:solidFill>
                <a:latin typeface="Arial"/>
              </a:rPr>
              <a:t>Mitigation : Resilient Header Normalizer : </a:t>
            </a:r>
            <a:r>
              <a:rPr sz="780">
                <a:solidFill>
                  <a:srgbClr val="222222"/>
                </a:solidFill>
                <a:latin typeface="Arial"/>
              </a:rPr>
              <a:t>Sub-50ms regex mapping normalizes 50+ divergent column variants into standard canonical schema automatically.</a:t>
            </a:r>
          </a:p>
          <a:p>
            <a:pPr>
              <a:spcBef>
                <a:spcPts val="250"/>
              </a:spcBef>
            </a:pPr>
            <a:r>
              <a:rPr sz="830" b="1">
                <a:solidFill>
                  <a:srgbClr val="B42828"/>
                </a:solidFill>
                <a:latin typeface="Arial"/>
              </a:rPr>
              <a:t>Risk : Student Identifier Privacy Exposure : </a:t>
            </a:r>
            <a:r>
              <a:rPr sz="780">
                <a:solidFill>
                  <a:srgbClr val="222222"/>
                </a:solidFill>
                <a:latin typeface="Arial"/>
              </a:rPr>
              <a:t>Storing plaintext 12-digit student APAAR identifiers risks data leakage under DPDP Act 2023.</a:t>
            </a:r>
          </a:p>
          <a:p>
            <a:pPr>
              <a:spcBef>
                <a:spcPts val="250"/>
              </a:spcBef>
            </a:pPr>
            <a:r>
              <a:rPr sz="830" b="1">
                <a:solidFill>
                  <a:srgbClr val="008C6E"/>
                </a:solidFill>
                <a:latin typeface="Arial"/>
              </a:rPr>
              <a:t>Mitigation : Keyed HMAC-SHA256 Shield : </a:t>
            </a:r>
            <a:r>
              <a:rPr sz="780">
                <a:solidFill>
                  <a:srgbClr val="222222"/>
                </a:solidFill>
                <a:latin typeface="Arial"/>
              </a:rPr>
              <a:t>Keyed HMAC-SHA256 pseudonymized indexing and dynamic masking (XXXX-XXXX-9012) ensure zero plaintext PII exposure.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3657600"/>
            <a:ext cx="56235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309360" y="3547872"/>
            <a:ext cx="3200400" cy="237744"/>
          </a:xfrm>
          <a:prstGeom prst="round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GOVERNANCE / REGULATORY CHALLENGES :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09360" y="3822191"/>
            <a:ext cx="53492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30" b="1">
                <a:solidFill>
                  <a:srgbClr val="B42828"/>
                </a:solidFill>
                <a:latin typeface="Arial"/>
              </a:rPr>
              <a:t>Risk : Concurrent Multi-College Admissions : </a:t>
            </a:r>
            <a:r>
              <a:rPr sz="780">
                <a:solidFill>
                  <a:srgbClr val="222222"/>
                </a:solidFill>
                <a:latin typeface="Arial"/>
              </a:rPr>
              <a:t>Students admitted concurrently across different institutions leading to fraudulent seat blocking.</a:t>
            </a:r>
          </a:p>
          <a:p>
            <a:pPr>
              <a:spcBef>
                <a:spcPts val="250"/>
              </a:spcBef>
            </a:pPr>
            <a:r>
              <a:rPr sz="830" b="1">
                <a:solidFill>
                  <a:srgbClr val="008C6E"/>
                </a:solidFill>
                <a:latin typeface="Arial"/>
              </a:rPr>
              <a:t>Mitigation : Duplicate Collision Radar : </a:t>
            </a:r>
            <a:r>
              <a:rPr sz="780">
                <a:solidFill>
                  <a:srgbClr val="222222"/>
                </a:solidFill>
                <a:latin typeface="Arial"/>
              </a:rPr>
              <a:t>Real-time cross-institution collision radar cross-checks active admissions against central records and flags duplicates.</a:t>
            </a:r>
          </a:p>
          <a:p>
            <a:pPr>
              <a:spcBef>
                <a:spcPts val="250"/>
              </a:spcBef>
            </a:pPr>
            <a:r>
              <a:rPr sz="830" b="1">
                <a:solidFill>
                  <a:srgbClr val="B42828"/>
                </a:solidFill>
                <a:latin typeface="Arial"/>
              </a:rPr>
              <a:t>Risk : Regulatory Non-Repudiation &amp; Tampering : </a:t>
            </a:r>
            <a:r>
              <a:rPr sz="780">
                <a:solidFill>
                  <a:srgbClr val="222222"/>
                </a:solidFill>
                <a:latin typeface="Arial"/>
              </a:rPr>
              <a:t>Unauthorized insider tampering with approved intake capacity or student status.</a:t>
            </a:r>
          </a:p>
          <a:p>
            <a:pPr>
              <a:spcBef>
                <a:spcPts val="250"/>
              </a:spcBef>
            </a:pPr>
            <a:r>
              <a:rPr sz="830" b="1">
                <a:solidFill>
                  <a:srgbClr val="008C6E"/>
                </a:solidFill>
                <a:latin typeface="Arial"/>
              </a:rPr>
              <a:t>Mitigation : Append-Only Hash Chain Ledger : </a:t>
            </a:r>
            <a:r>
              <a:rPr sz="780">
                <a:solidFill>
                  <a:srgbClr val="222222"/>
                </a:solidFill>
                <a:latin typeface="Arial"/>
              </a:rPr>
              <a:t>Sequential SHA-256 hash chaining (Hash_n = SHA256(Record_n || Hash_n-1)) mathematically exposes any tampering.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37160"/>
            <a:ext cx="8092440" cy="82296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I M P A C T S   &amp;   B E N E F I T S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008C6E"/>
                </a:solidFill>
                <a:latin typeface="Arial"/>
              </a:defRPr>
            </a:pPr>
            <a:r>
              <a:t>Multi-Stakeholder Regulatory Value &amp; 3-Tier Operating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64592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97280"/>
            <a:ext cx="6858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88720"/>
            <a:ext cx="6583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&gt; The Regulatory &amp; Grant Protection Impact : </a:t>
            </a:r>
            <a:r>
              <a:rPr sz="810">
                <a:solidFill>
                  <a:srgbClr val="222222"/>
                </a:solidFill>
                <a:latin typeface="Arial"/>
              </a:rPr>
              <a:t>Hundreds of millions in government technical grants are protected by eliminating phantom seats, excess enrolments, and commercial seat-blocking across 10,000+ institutions.</a:t>
            </a:r>
          </a:p>
          <a:p>
            <a:pPr>
              <a:spcBef>
                <a:spcPts val="5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&gt; Social Equity &amp; Affirmative Action Gains : </a:t>
            </a:r>
            <a:r>
              <a:rPr sz="810">
                <a:solidFill>
                  <a:srgbClr val="222222"/>
                </a:solidFill>
                <a:latin typeface="Arial"/>
              </a:rPr>
              <a:t>Rigorous automated enforcement of statutory and supernumerary quotas (TFW 5%, EWS 10%, Kashmiri Migrants, NRI/FN 15%) protects legitimate students against arbitrary substitution.</a:t>
            </a:r>
          </a:p>
          <a:p>
            <a:pPr>
              <a:spcBef>
                <a:spcPts val="500"/>
              </a:spcBef>
            </a:pPr>
            <a:r>
              <a:rPr sz="880" b="1">
                <a:solidFill>
                  <a:srgbClr val="1A365D"/>
                </a:solidFill>
                <a:latin typeface="Arial"/>
              </a:rPr>
              <a:t>&gt; Environmental &amp; Paperless Transformation : </a:t>
            </a:r>
            <a:r>
              <a:rPr sz="810">
                <a:solidFill>
                  <a:srgbClr val="222222"/>
                </a:solidFill>
                <a:latin typeface="Arial"/>
              </a:rPr>
              <a:t>100% digital data reconciliation replaces manual paperwork, physical affidavits, and physical inspection logistics; guarantees full DPDP Act 2023 compliance with zero plaintext APAAR storage.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360920" y="1097280"/>
            <a:ext cx="4462272" cy="2560320"/>
          </a:xfrm>
          <a:prstGeom prst="roundRect">
            <a:avLst/>
          </a:prstGeom>
          <a:solidFill>
            <a:srgbClr val="181C24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7452360" y="1143000"/>
          <a:ext cx="4279392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868680"/>
                <a:gridCol w="804672"/>
              </a:tblGrid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Feature Matrix</a:t>
                      </a:r>
                    </a:p>
                  </a:txBody>
                  <a:tcPr marL="54864" marR="36576" marT="18288" marB="18288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Conventional</a:t>
                      </a:r>
                    </a:p>
                  </a:txBody>
                  <a:tcPr marL="54864" marR="36576" marT="18288" marB="18288"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PRAMAAN</a:t>
                      </a:r>
                    </a:p>
                  </a:txBody>
                  <a:tcPr marL="54864" marR="36576" marT="18288" marB="18288">
                    <a:solidFill>
                      <a:srgbClr val="102542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3-Way Deterministic Reconciliation</a:t>
                      </a:r>
                    </a:p>
                  </a:txBody>
                  <a:tcPr marL="54864" marR="18288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Resilient Column Alias Normalizer</a:t>
                      </a:r>
                    </a:p>
                  </a:txBody>
                  <a:tcPr marL="54864" marR="18288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Interactive In-Browser Sandbox</a:t>
                      </a:r>
                    </a:p>
                  </a:txBody>
                  <a:tcPr marL="54864" marR="18288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Cross-Institution Collision Radar</a:t>
                      </a:r>
                    </a:p>
                  </a:txBody>
                  <a:tcPr marL="54864" marR="18288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Zero Plaintext APAAR (HMAC-SHA256)</a:t>
                      </a:r>
                    </a:p>
                  </a:txBody>
                  <a:tcPr marL="54864" marR="18288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Asymmetric Ed25519 QR Receipts</a:t>
                      </a:r>
                    </a:p>
                  </a:txBody>
                  <a:tcPr marL="54864" marR="18288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Tamper-Evident SHA-256 Ledger</a:t>
                      </a:r>
                    </a:p>
                  </a:txBody>
                  <a:tcPr marL="54864" marR="18288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</a:tr>
              <a:tr h="24505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DPDP Act 2023 Consent Compliance</a:t>
                      </a:r>
                    </a:p>
                  </a:txBody>
                  <a:tcPr marL="54864" marR="18288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C6414"/>
                          </a:solidFill>
                          <a:latin typeface="Arial"/>
                        </a:rPr>
                        <a:t>!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81E2A"/>
                    </a:solidFill>
                  </a:tcPr>
                </a:tc>
              </a:tr>
              <a:tr h="245061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F0F5FF"/>
                          </a:solidFill>
                          <a:latin typeface="Arial"/>
                        </a:rPr>
                        <a:t>Live Multi-Domain Deployment</a:t>
                      </a:r>
                    </a:p>
                  </a:txBody>
                  <a:tcPr marL="54864" marR="18288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B42828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08C6E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9144" marR="9144" marT="9144" marB="9144">
                    <a:solidFill>
                      <a:srgbClr val="121721"/>
                    </a:solidFill>
                  </a:tcPr>
                </a:tc>
              </a:tr>
            </a:tbl>
          </a:graphicData>
        </a:graphic>
      </p:graphicFrame>
      <p:sp>
        <p:nvSpPr>
          <p:cNvPr id="17414" name="Rectangle 17413"/>
          <p:cNvSpPr/>
          <p:nvPr/>
        </p:nvSpPr>
        <p:spPr>
          <a:xfrm>
            <a:off x="365760" y="3749039"/>
            <a:ext cx="114300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12266"/>
                </a:solidFill>
                <a:latin typeface="Arial"/>
              </a:defRPr>
            </a:pPr>
            <a:r>
              <a:t>H O W   P R A M A A N   W O R K S   (THREE-TIER OPERATING BREAKTHROUGH)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4114800"/>
            <a:ext cx="36576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75488" y="4005072"/>
            <a:ext cx="3438144" cy="256032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 1: INSTITUTIONAL DESK (College)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75488" y="4297680"/>
            <a:ext cx="343814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&gt; For : </a:t>
            </a:r>
            <a:r>
              <a:rPr sz="780">
                <a:solidFill>
                  <a:srgbClr val="222222"/>
                </a:solidFill>
                <a:latin typeface="Arial"/>
              </a:rPr>
              <a:t>College registrars &amp; admission officers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&gt; Process : </a:t>
            </a:r>
            <a:r>
              <a:rPr sz="780">
                <a:solidFill>
                  <a:srgbClr val="222222"/>
                </a:solidFill>
                <a:latin typeface="Arial"/>
              </a:rPr>
              <a:t>Upload CSV/Excel -&gt; Sub-50ms alias mapping -&gt; Quarantine sandbox -&gt; Commit batch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&gt; Time : </a:t>
            </a:r>
            <a:r>
              <a:rPr sz="780">
                <a:solidFill>
                  <a:srgbClr val="222222"/>
                </a:solidFill>
                <a:latin typeface="Arial"/>
              </a:rPr>
              <a:t>&lt; 2 minutes per batch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&gt; Success Rate : </a:t>
            </a:r>
            <a:r>
              <a:rPr sz="780">
                <a:solidFill>
                  <a:srgbClr val="222222"/>
                </a:solidFill>
                <a:latin typeface="Arial"/>
              </a:rPr>
              <a:t>99.8% schema tolerance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56DB"/>
                </a:solidFill>
                <a:latin typeface="Arial"/>
              </a:rPr>
              <a:t>&gt; Best For : </a:t>
            </a:r>
            <a:r>
              <a:rPr sz="780">
                <a:solidFill>
                  <a:srgbClr val="222222"/>
                </a:solidFill>
                <a:latin typeface="Arial"/>
              </a:rPr>
              <a:t>Annual technical admissions &amp; onboarding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51960" y="4114800"/>
            <a:ext cx="36576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361688" y="4005072"/>
            <a:ext cx="3438144" cy="256032"/>
          </a:xfrm>
          <a:prstGeom prst="roundRect">
            <a:avLst/>
          </a:prstGeom>
          <a:solidFill>
            <a:srgbClr val="DC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 2: REGULATORY DESK (AICTE)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61688" y="4297680"/>
            <a:ext cx="343814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&gt; For : </a:t>
            </a:r>
            <a:r>
              <a:rPr sz="780">
                <a:solidFill>
                  <a:srgbClr val="222222"/>
                </a:solidFill>
                <a:latin typeface="Arial"/>
              </a:rPr>
              <a:t>AICTE central administrators &amp; scrutiny officers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&gt; Process : </a:t>
            </a:r>
            <a:r>
              <a:rPr sz="780">
                <a:solidFill>
                  <a:srgbClr val="222222"/>
                </a:solidFill>
                <a:latin typeface="Arial"/>
              </a:rPr>
              <a:t>3-way reconciliation (Declarations x Uploads x Sanctioned Quota) -&gt; Collision radar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&gt; Time : </a:t>
            </a:r>
            <a:r>
              <a:rPr sz="780">
                <a:solidFill>
                  <a:srgbClr val="222222"/>
                </a:solidFill>
                <a:latin typeface="Arial"/>
              </a:rPr>
              <a:t>Instant real-time calculation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&gt; Success Rate : </a:t>
            </a:r>
            <a:r>
              <a:rPr sz="780">
                <a:solidFill>
                  <a:srgbClr val="222222"/>
                </a:solidFill>
                <a:latin typeface="Arial"/>
              </a:rPr>
              <a:t>100% Deterministic (Zero Hallucination)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DC6414"/>
                </a:solidFill>
                <a:latin typeface="Arial"/>
              </a:rPr>
              <a:t>&gt; Best For : </a:t>
            </a:r>
            <a:r>
              <a:rPr sz="780">
                <a:solidFill>
                  <a:srgbClr val="222222"/>
                </a:solidFill>
                <a:latin typeface="Arial"/>
              </a:rPr>
              <a:t>Over-intake prevention &amp; quota defense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138160" y="4114800"/>
            <a:ext cx="365760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247888" y="4005072"/>
            <a:ext cx="3438144" cy="256032"/>
          </a:xfrm>
          <a:prstGeom prst="roundRect">
            <a:avLst/>
          </a:prstGeom>
          <a:solidFill>
            <a:srgbClr val="188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MODE 3: TRUST GATEWAY (Verifiers)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247888" y="4297680"/>
            <a:ext cx="343814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&gt; For : </a:t>
            </a:r>
            <a:r>
              <a:rPr sz="780">
                <a:solidFill>
                  <a:srgbClr val="222222"/>
                </a:solidFill>
                <a:latin typeface="Arial"/>
              </a:rPr>
              <a:t>Employers, universities, verifiers, and students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&gt; Process : </a:t>
            </a:r>
            <a:r>
              <a:rPr sz="780">
                <a:solidFill>
                  <a:srgbClr val="222222"/>
                </a:solidFill>
                <a:latin typeface="Arial"/>
              </a:rPr>
              <a:t>Scan Ed25519 QR -&gt; Validate cryptographic proof offline against AICTE public key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&gt; Time : </a:t>
            </a:r>
            <a:r>
              <a:rPr sz="780">
                <a:solidFill>
                  <a:srgbClr val="222222"/>
                </a:solidFill>
                <a:latin typeface="Arial"/>
              </a:rPr>
              <a:t>&lt; 50ms offline verification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&gt; Success Rate : </a:t>
            </a:r>
            <a:r>
              <a:rPr sz="780">
                <a:solidFill>
                  <a:srgbClr val="222222"/>
                </a:solidFill>
                <a:latin typeface="Arial"/>
              </a:rPr>
              <a:t>100% Mathematical Non-Repudiation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8864B"/>
                </a:solidFill>
                <a:latin typeface="Arial"/>
              </a:rPr>
              <a:t>&gt; Best For : </a:t>
            </a:r>
            <a:r>
              <a:rPr sz="780">
                <a:solidFill>
                  <a:srgbClr val="222222"/>
                </a:solidFill>
                <a:latin typeface="Arial"/>
              </a:rPr>
              <a:t>Zero-trust academic degree verification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137160"/>
            <a:ext cx="8092440" cy="822960"/>
          </a:xfrm>
        </p:spPr>
        <p:txBody>
          <a:bodyPr wrap="square"/>
          <a:lstStyle/>
          <a:p>
            <a:pPr eaLnBrk="1" hangingPunct="1" algn="l">
              <a:defRPr sz="1700" b="1">
                <a:solidFill>
                  <a:srgbClr val="112266"/>
                </a:solidFill>
                <a:latin typeface="Arial"/>
              </a:defRPr>
            </a:pPr>
            <a:r>
              <a:t>R E S E A R C H   A N D   R E F E R E N C E S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008C6E"/>
                </a:solidFill>
                <a:latin typeface="Arial"/>
              </a:defRPr>
            </a:pPr>
            <a:r>
              <a:t>Authoritative Citations, Prior Art Differentiation &amp; Clickable Live Resources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382512"/>
            <a:ext cx="1645920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743200" y="6382512"/>
            <a:ext cx="6702552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FFFFFF"/>
                </a:solidFill>
                <a:latin typeface="Arial"/>
              </a:defRPr>
            </a:pPr>
            <a:r>
              <a:t>@ TCE_Yquanto | 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164592"/>
            <a:ext cx="1371600" cy="6858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18288" rIns="18288"/>
          <a:lstStyle/>
          <a:p>
            <a:pPr algn="ctr">
              <a:defRPr sz="950" b="1">
                <a:solidFill>
                  <a:srgbClr val="112266"/>
                </a:solidFill>
                <a:latin typeface="Arial"/>
              </a:defRPr>
            </a:pPr>
            <a:r>
              <a:t>TCE_Yquanto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78992"/>
            <a:ext cx="11430000" cy="15361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1152144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AICTE Approval Process Handbook (APH 2026-27) : </a:t>
            </a:r>
            <a:r>
              <a:rPr sz="800">
                <a:solidFill>
                  <a:srgbClr val="222222"/>
                </a:solidFill>
                <a:latin typeface="Arial"/>
              </a:rPr>
              <a:t>Statutory norms for approved intake capacity, supernumerary seat limits (TFW 5%, EWS 10%, KM), and program affiliation. Links : </a:t>
            </a:r>
            <a:r>
              <a:rPr sz="800" b="1">
                <a:solidFill>
                  <a:srgbClr val="1A56DB"/>
                </a:solidFill>
                <a:latin typeface="Arial"/>
                <a:hlinkClick r:id="rId4"/>
              </a:rPr>
              <a:t>[AICTE Portal ↗]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National Education Policy (NEP 2020) &amp; APAAR / ABC : </a:t>
            </a:r>
            <a:r>
              <a:rPr sz="800">
                <a:solidFill>
                  <a:srgbClr val="222222"/>
                </a:solidFill>
                <a:latin typeface="Arial"/>
              </a:rPr>
              <a:t>Framework establishing the 12-digit Automated Permanent Academic Account Registry as the national lifelong academic identifier. Links : </a:t>
            </a:r>
            <a:r>
              <a:rPr sz="800" b="1">
                <a:solidFill>
                  <a:srgbClr val="1A56DB"/>
                </a:solidFill>
                <a:latin typeface="Arial"/>
                <a:hlinkClick r:id="rId4"/>
              </a:rPr>
              <a:t>[MoE Guidelines ↗]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Digital Personal Data Protection Act (DPDP Act 2023) : </a:t>
            </a:r>
            <a:r>
              <a:rPr sz="800">
                <a:solidFill>
                  <a:srgbClr val="222222"/>
                </a:solidFill>
                <a:latin typeface="Arial"/>
              </a:rPr>
              <a:t>Principles of purpose limitation, data minimization, keyed HMAC-SHA256 pseudonymization, and dynamic student masking. Links : </a:t>
            </a:r>
            <a:r>
              <a:rPr sz="800" b="1">
                <a:solidFill>
                  <a:srgbClr val="1A56DB"/>
                </a:solidFill>
                <a:latin typeface="Arial"/>
                <a:hlinkClick r:id="rId4"/>
              </a:rPr>
              <a:t>[DPDP Gazette ↗]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1A365D"/>
                </a:solidFill>
                <a:latin typeface="Arial"/>
              </a:rPr>
              <a:t>&gt; IETF RFC 8032 (Ed25519) &amp; NIST SP 800-107 (Secure Hashing) : </a:t>
            </a:r>
            <a:r>
              <a:rPr sz="800">
                <a:solidFill>
                  <a:srgbClr val="222222"/>
                </a:solidFill>
                <a:latin typeface="Arial"/>
              </a:rPr>
              <a:t>Cryptographic specifications for Edwards-Curve Digital Signatures and sequential SHA-256 hash chaining. Links : </a:t>
            </a:r>
            <a:r>
              <a:rPr sz="800" b="1">
                <a:solidFill>
                  <a:srgbClr val="1A56DB"/>
                </a:solidFill>
                <a:latin typeface="Arial"/>
                <a:hlinkClick r:id="rId5"/>
              </a:rPr>
              <a:t>[RFC 8032 / NIST SP 800-107 ↗]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2724912"/>
            <a:ext cx="530352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2615184"/>
            <a:ext cx="2560320" cy="219456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SOLUTIONS ALREADY EXIST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2871216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Arial"/>
              </a:defRPr>
            </a:pPr>
            <a:r>
              <a:t>&gt; Most existing systems perform generic syntax checks only, rely on unverified college spreadsheets, and issue opaque batch rejections.</a:t>
            </a:r>
          </a:p>
          <a:p>
            <a:pPr>
              <a:spcBef>
                <a:spcPts val="300"/>
              </a:spcBef>
              <a:defRPr sz="800" b="1">
                <a:solidFill>
                  <a:srgbClr val="64748B"/>
                </a:solidFill>
                <a:latin typeface="Arial"/>
              </a:defRPr>
            </a:pPr>
            <a:r>
              <a:t>&gt; AVAILABLE PORTALS : National Scholarship Portal (NSP) / State CET Portals / Legacy University ERPs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5760720" y="3246120"/>
            <a:ext cx="502920" cy="320040"/>
          </a:xfrm>
          <a:prstGeom prst="rightArrow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355080" y="2724912"/>
            <a:ext cx="54406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492240" y="2615184"/>
            <a:ext cx="2743200" cy="219456"/>
          </a:xfrm>
          <a:prstGeom prst="roundRect">
            <a:avLst/>
          </a:prstGeom>
          <a:solidFill>
            <a:srgbClr val="008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OUR SOLUTION STANDS OUT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92240" y="2871216"/>
            <a:ext cx="5166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Deterministic 3-Way Cross-Reconciliation : </a:t>
            </a:r>
            <a:r>
              <a:rPr sz="760">
                <a:solidFill>
                  <a:srgbClr val="222222"/>
                </a:solidFill>
                <a:latin typeface="Arial"/>
              </a:rPr>
              <a:t>Cross-checks declarations, staged records, and sanctioned capacity.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Interactive Quarantine Sandbox : </a:t>
            </a:r>
            <a:r>
              <a:rPr sz="760">
                <a:solidFill>
                  <a:srgbClr val="222222"/>
                </a:solidFill>
                <a:latin typeface="Arial"/>
              </a:rPr>
              <a:t>Row-level discrepancy explanations and editable in-browser resubmission.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Cryptographic Offline Trust : </a:t>
            </a:r>
            <a:r>
              <a:rPr sz="760">
                <a:solidFill>
                  <a:srgbClr val="222222"/>
                </a:solidFill>
                <a:latin typeface="Arial"/>
              </a:rPr>
              <a:t>Ed25519 digital signature receipts verifiable via QR code in &lt;50ms.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1A365D"/>
                </a:solidFill>
                <a:latin typeface="Arial"/>
              </a:rPr>
              <a:t>&gt; Privacy-by-Design DPDP Shield : </a:t>
            </a:r>
            <a:r>
              <a:rPr sz="760">
                <a:solidFill>
                  <a:srgbClr val="222222"/>
                </a:solidFill>
                <a:latin typeface="Arial"/>
              </a:rPr>
              <a:t>Keyed HMAC-SHA256 indexing ensures zero plaintext APAAR stored in database.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4206240"/>
            <a:ext cx="56692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4096512"/>
            <a:ext cx="2926080" cy="219456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PROJECT RESOURCES (CLICKABLE LINKS)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4370832"/>
            <a:ext cx="5394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Live Web Platform : </a:t>
            </a:r>
            <a:r>
              <a:rPr sz="800" b="1">
                <a:solidFill>
                  <a:srgbClr val="1A56DB"/>
                </a:solidFill>
                <a:latin typeface="Arial"/>
                <a:hlinkClick r:id="rId4"/>
              </a:rPr>
              <a:t>https://brainforge.info</a:t>
            </a:r>
            <a:r>
              <a:rPr sz="720">
                <a:solidFill>
                  <a:srgbClr val="64748B"/>
                </a:solidFill>
                <a:latin typeface="Arial"/>
              </a:rPr>
              <a:t> (Vercel Edge with custom domain &amp; Let's Encrypt SSL)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Alternate Domain : </a:t>
            </a:r>
            <a:r>
              <a:rPr sz="800" b="1">
                <a:solidFill>
                  <a:srgbClr val="1A56DB"/>
                </a:solidFill>
                <a:latin typeface="Arial"/>
                <a:hlinkClick r:id="rId6"/>
              </a:rPr>
              <a:t>https://pramaan.brainforge.info</a:t>
            </a:r>
            <a:r>
              <a:rPr sz="720">
                <a:solidFill>
                  <a:srgbClr val="64748B"/>
                </a:solidFill>
                <a:latin typeface="Arial"/>
              </a:rPr>
              <a:t> (Secondary alias resolving 24/7 globally)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Interactive API Docs : </a:t>
            </a:r>
            <a:r>
              <a:rPr sz="800" b="1">
                <a:solidFill>
                  <a:srgbClr val="1A56DB"/>
                </a:solidFill>
                <a:latin typeface="Arial"/>
                <a:hlinkClick r:id="rId5"/>
              </a:rPr>
              <a:t>https://apaar-id-based-system.onrender.com/docs</a:t>
            </a:r>
            <a:r>
              <a:rPr sz="720">
                <a:solidFill>
                  <a:srgbClr val="64748B"/>
                </a:solidFill>
                <a:latin typeface="Arial"/>
              </a:rPr>
              <a:t> (FastAPI OpenAPI 3.1 with 73 live endpoints)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Open-Source GitHub : </a:t>
            </a:r>
            <a:r>
              <a:rPr sz="800" b="1">
                <a:solidFill>
                  <a:srgbClr val="1A56DB"/>
                </a:solidFill>
                <a:latin typeface="Arial"/>
                <a:hlinkClick r:id="rId7"/>
              </a:rPr>
              <a:t>https://github.com/naveeshpcbin/APAAR-ID-BASED-SYSTEM</a:t>
            </a:r>
            <a:r>
              <a:rPr sz="720">
                <a:solidFill>
                  <a:srgbClr val="64748B"/>
                </a:solidFill>
                <a:latin typeface="Arial"/>
              </a:rPr>
              <a:t> (Full source code, 20 models, Alembic migrations)</a:t>
            </a:r>
          </a:p>
          <a:p>
            <a:pPr>
              <a:spcBef>
                <a:spcPts val="250"/>
              </a:spcBef>
            </a:pPr>
            <a:r>
              <a:rPr sz="819" b="1">
                <a:solidFill>
                  <a:srgbClr val="1A365D"/>
                </a:solidFill>
                <a:latin typeface="Arial"/>
              </a:rPr>
              <a:t>&gt; Automated Tests : </a:t>
            </a:r>
            <a:r>
              <a:rPr sz="800">
                <a:solidFill>
                  <a:srgbClr val="008C6E"/>
                </a:solidFill>
                <a:latin typeface="Arial"/>
              </a:rPr>
              <a:t>66/66 Unit Tests + 20/20 Phase F E2E Checks Passing</a:t>
            </a:r>
            <a:r>
              <a:rPr sz="720">
                <a:solidFill>
                  <a:srgbClr val="64748B"/>
                </a:solidFill>
                <a:latin typeface="Arial"/>
              </a:rPr>
              <a:t> (100% verified locally &amp; on live cloud)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72200" y="4206240"/>
            <a:ext cx="562356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309360" y="4096512"/>
            <a:ext cx="3200400" cy="219456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EVIDENCE: SHA-256 AUDIT LEDGER</a:t>
            </a:r>
          </a:p>
        </p:txBody>
      </p:sp>
      <p:pic>
        <p:nvPicPr>
          <p:cNvPr id="17424" name="Picture 17423" descr="slide_6_Picture 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343400"/>
            <a:ext cx="2926080" cy="164592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9326880" y="4343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80">
                <a:solidFill>
                  <a:srgbClr val="222222"/>
                </a:solidFill>
                <a:latin typeface="Arial"/>
              </a:defRPr>
            </a:pPr>
            <a:r>
              <a:t>Tamper-Evident Audit Ledger: Mathematical SHA-256 sequential hash chaining proves non-tampering of all admissions, commits, and regulatory approvals.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7502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Rohith Mahendran</cp:lastModifiedBy>
  <cp:revision>149</cp:revision>
  <dcterms:created xsi:type="dcterms:W3CDTF">2013-12-12T18:46:50Z</dcterms:created>
  <dcterms:modified xsi:type="dcterms:W3CDTF">2026-10-23T14:08:40Z</dcterms:modified>
  <cp:category/>
</cp:coreProperties>
</file>