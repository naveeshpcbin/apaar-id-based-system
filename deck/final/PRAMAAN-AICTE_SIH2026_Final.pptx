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8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370" y="67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10/28/2026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dirty="0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10/28/2026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10/28/2026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10/28/2026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57292" y="1513090"/>
            <a:ext cx="5943600" cy="38318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0"/>
              </a:spcBef>
            </a:pPr>
            <a:r>
              <a:rPr sz="1600" b="1" dirty="0">
                <a:solidFill>
                  <a:srgbClr val="112266"/>
                </a:solidFill>
                <a:latin typeface="Arial"/>
              </a:rPr>
              <a:t>Problem Statement ID: SIH26263</a:t>
            </a:r>
            <a:endParaRPr lang="en-US" sz="1600" dirty="0"/>
          </a:p>
          <a:p>
            <a:pPr>
              <a:spcBef>
                <a:spcPts val="600"/>
              </a:spcBef>
            </a:pPr>
            <a:r>
              <a:rPr sz="1600" b="1" dirty="0">
                <a:solidFill>
                  <a:srgbClr val="112266"/>
                </a:solidFill>
                <a:latin typeface="Arial"/>
              </a:rPr>
              <a:t>Problem Statement Title: </a:t>
            </a:r>
            <a:r>
              <a:rPr sz="1600" b="0" dirty="0">
                <a:solidFill>
                  <a:srgbClr val="1A365D"/>
                </a:solidFill>
                <a:latin typeface="Arial"/>
              </a:rPr>
              <a:t>Development of an APAAR ID-Based Student Data Management and Verification Platform for AICTE-Approved Institutions</a:t>
            </a:r>
          </a:p>
          <a:p>
            <a:pPr>
              <a:spcBef>
                <a:spcPts val="600"/>
              </a:spcBef>
            </a:pPr>
            <a:r>
              <a:rPr sz="1600" b="1" dirty="0">
                <a:solidFill>
                  <a:srgbClr val="112266"/>
                </a:solidFill>
                <a:latin typeface="Arial"/>
              </a:rPr>
              <a:t>Theme: </a:t>
            </a:r>
            <a:r>
              <a:rPr sz="1600" b="0" dirty="0">
                <a:solidFill>
                  <a:srgbClr val="222222"/>
                </a:solidFill>
                <a:latin typeface="Arial"/>
              </a:rPr>
              <a:t>Smart Automation</a:t>
            </a:r>
          </a:p>
          <a:p>
            <a:pPr>
              <a:spcBef>
                <a:spcPts val="600"/>
              </a:spcBef>
            </a:pPr>
            <a:r>
              <a:rPr sz="1600" b="1" dirty="0">
                <a:solidFill>
                  <a:srgbClr val="112266"/>
                </a:solidFill>
                <a:latin typeface="Arial"/>
              </a:rPr>
              <a:t>PS Category: </a:t>
            </a:r>
            <a:r>
              <a:rPr sz="1600" b="0" dirty="0">
                <a:solidFill>
                  <a:srgbClr val="222222"/>
                </a:solidFill>
                <a:latin typeface="Arial"/>
              </a:rPr>
              <a:t>Software</a:t>
            </a:r>
          </a:p>
          <a:p>
            <a:pPr>
              <a:spcBef>
                <a:spcPts val="600"/>
              </a:spcBef>
            </a:pPr>
            <a:r>
              <a:rPr sz="1600" b="1" dirty="0">
                <a:solidFill>
                  <a:srgbClr val="112266"/>
                </a:solidFill>
                <a:latin typeface="Arial"/>
              </a:rPr>
              <a:t>Team ID: </a:t>
            </a:r>
            <a:endParaRPr lang="en-IN" sz="1600" b="1" dirty="0">
              <a:solidFill>
                <a:srgbClr val="112266"/>
              </a:solidFill>
              <a:latin typeface="Arial"/>
            </a:endParaRPr>
          </a:p>
          <a:p>
            <a:pPr>
              <a:spcBef>
                <a:spcPts val="600"/>
              </a:spcBef>
            </a:pPr>
            <a:r>
              <a:rPr sz="1600" b="1" dirty="0">
                <a:solidFill>
                  <a:srgbClr val="112266"/>
                </a:solidFill>
                <a:latin typeface="Arial"/>
              </a:rPr>
              <a:t>Team Name: </a:t>
            </a:r>
            <a:r>
              <a:rPr sz="1600" b="1" dirty="0" err="1">
                <a:solidFill>
                  <a:srgbClr val="112266"/>
                </a:solidFill>
                <a:latin typeface="Arial"/>
              </a:rPr>
              <a:t>TCE_Yquanto</a:t>
            </a:r>
            <a:r>
              <a:rPr sz="1600" b="1" dirty="0">
                <a:solidFill>
                  <a:srgbClr val="112266"/>
                </a:solidFill>
                <a:latin typeface="Arial"/>
              </a:rPr>
              <a:t> </a:t>
            </a:r>
            <a:endParaRPr lang="en-IN" sz="1600" b="1" dirty="0">
              <a:solidFill>
                <a:srgbClr val="112266"/>
              </a:solidFill>
              <a:latin typeface="Arial"/>
            </a:endParaRPr>
          </a:p>
          <a:p>
            <a:pPr>
              <a:spcBef>
                <a:spcPts val="600"/>
              </a:spcBef>
            </a:pPr>
            <a:r>
              <a:rPr sz="1600" b="1" dirty="0">
                <a:solidFill>
                  <a:srgbClr val="112266"/>
                </a:solidFill>
                <a:latin typeface="Arial"/>
              </a:rPr>
              <a:t>Source Repository: </a:t>
            </a:r>
            <a:r>
              <a:rPr sz="1600" b="1" dirty="0">
                <a:solidFill>
                  <a:srgbClr val="008C6E"/>
                </a:solidFill>
                <a:latin typeface="Arial"/>
              </a:rPr>
              <a:t>https://github.com/naveeshpcbin/APAAR-ID-BASED-SYSTEM</a:t>
            </a:r>
          </a:p>
          <a:p>
            <a:pPr>
              <a:spcBef>
                <a:spcPts val="600"/>
              </a:spcBef>
            </a:pPr>
            <a:r>
              <a:rPr sz="1600" b="1" dirty="0">
                <a:solidFill>
                  <a:srgbClr val="112266"/>
                </a:solidFill>
                <a:latin typeface="Arial"/>
              </a:rPr>
              <a:t>Architecture Baseline: </a:t>
            </a:r>
            <a:r>
              <a:rPr sz="1600" b="0" dirty="0">
                <a:solidFill>
                  <a:srgbClr val="1A365D"/>
                </a:solidFill>
                <a:latin typeface="Arial"/>
              </a:rPr>
              <a:t>Next.js 14 + </a:t>
            </a:r>
            <a:r>
              <a:rPr sz="1600" b="0" dirty="0" err="1">
                <a:solidFill>
                  <a:srgbClr val="1A365D"/>
                </a:solidFill>
                <a:latin typeface="Arial"/>
              </a:rPr>
              <a:t>FastAPI</a:t>
            </a:r>
            <a:r>
              <a:rPr sz="1600" b="0" dirty="0">
                <a:solidFill>
                  <a:srgbClr val="1A365D"/>
                </a:solidFill>
                <a:latin typeface="Arial"/>
              </a:rPr>
              <a:t> + PostgreSQL (20 Tables, RLS) + Deterministic 3-Way Reconciliation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06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2743200" y="6382512"/>
            <a:ext cx="6702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FFFFFF"/>
                </a:solidFill>
                <a:latin typeface="Arial"/>
              </a:defRPr>
            </a:pPr>
            <a:r>
              <a:t>@ TCE_Yquanto | Smart India Hackathon 2026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0" y="6382512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  <a:latin typeface="Arial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691640" y="164592"/>
            <a:ext cx="8092440" cy="777240"/>
          </a:xfrm>
        </p:spPr>
        <p:txBody>
          <a:bodyPr wrap="square"/>
          <a:lstStyle/>
          <a:p>
            <a:pPr algn="l" eaLnBrk="1" hangingPunct="1">
              <a:defRPr sz="1650" b="1">
                <a:solidFill>
                  <a:srgbClr val="112266"/>
                </a:solidFill>
                <a:latin typeface="Arial"/>
              </a:defRPr>
            </a:pPr>
            <a:r>
              <a:rPr dirty="0"/>
              <a:t>PROPOSED SOLUTION: THE PRAMAAN-AICTE RECONCILIATION SYSTEM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058400" y="6382512"/>
            <a:ext cx="1645920" cy="365760"/>
          </a:xfrm>
        </p:spPr>
        <p:txBody>
          <a:bodyPr/>
          <a:lstStyle/>
          <a:p>
            <a:pPr algn="r">
              <a:defRPr sz="1000" b="1">
                <a:solidFill>
                  <a:srgbClr val="FFFFFF"/>
                </a:solidFill>
                <a:latin typeface="Arial"/>
              </a:defRPr>
            </a:pPr>
            <a:r>
              <a:t>2</a:t>
            </a:r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2743200" y="6382512"/>
            <a:ext cx="6702552" cy="365760"/>
          </a:xfrm>
        </p:spPr>
        <p:txBody>
          <a:bodyPr/>
          <a:lstStyle/>
          <a:p>
            <a:pPr algn="ctr">
              <a:defRPr sz="1000">
                <a:solidFill>
                  <a:srgbClr val="FFFFFF"/>
                </a:solidFill>
                <a:latin typeface="Arial"/>
              </a:defRPr>
            </a:pPr>
            <a:r>
              <a:t>@ TCE_Yquanto | Smart India Hackathon 2026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274320" y="182880"/>
            <a:ext cx="1371600" cy="685800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none" lIns="18288" rIns="18288" rtlCol="0" anchor="ctr"/>
          <a:lstStyle/>
          <a:p>
            <a:pPr algn="ctr">
              <a:defRPr sz="950" b="1">
                <a:solidFill>
                  <a:srgbClr val="112266"/>
                </a:solidFill>
                <a:latin typeface="Arial"/>
              </a:defRPr>
            </a:pPr>
            <a:r>
              <a:t>TCE_Yquanto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Rounded Rectangle 15361"/>
          <p:cNvSpPr/>
          <p:nvPr/>
        </p:nvSpPr>
        <p:spPr>
          <a:xfrm>
            <a:off x="365760" y="1115568"/>
            <a:ext cx="5623560" cy="138988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63" name="Rounded Rectangle 15362"/>
          <p:cNvSpPr/>
          <p:nvPr/>
        </p:nvSpPr>
        <p:spPr>
          <a:xfrm>
            <a:off x="475488" y="1005840"/>
            <a:ext cx="5404104" cy="274320"/>
          </a:xfrm>
          <a:prstGeom prst="round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73152" tIns="9144" rIns="73152" bIns="9144" rtlCol="0" anchor="ctr"/>
          <a:lstStyle/>
          <a:p>
            <a:pPr algn="ctr">
              <a:defRPr sz="950" b="1">
                <a:solidFill>
                  <a:srgbClr val="FFFFFF"/>
                </a:solidFill>
                <a:latin typeface="Arial"/>
              </a:defRPr>
            </a:pPr>
            <a:r>
              <a:t>1. REGULATORY CHALLENGE ADDRESSED</a:t>
            </a:r>
          </a:p>
        </p:txBody>
      </p:sp>
      <p:sp>
        <p:nvSpPr>
          <p:cNvPr id="15364" name="TextBox 15363"/>
          <p:cNvSpPr txBox="1"/>
          <p:nvPr/>
        </p:nvSpPr>
        <p:spPr>
          <a:xfrm>
            <a:off x="475488" y="1298448"/>
            <a:ext cx="5404104" cy="100027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</a:pPr>
            <a:r>
              <a:rPr sz="1000" b="1" dirty="0">
                <a:solidFill>
                  <a:srgbClr val="1A365D"/>
                </a:solidFill>
                <a:latin typeface="Arial"/>
              </a:rPr>
              <a:t>• Fragmented Institutional Data: </a:t>
            </a:r>
            <a:r>
              <a:rPr sz="1000" dirty="0">
                <a:solidFill>
                  <a:srgbClr val="222222"/>
                </a:solidFill>
                <a:latin typeface="Arial"/>
              </a:rPr>
              <a:t>Divergent college ERP spreadsheet schemas, non-standard column headers, and unverified declarations.</a:t>
            </a:r>
          </a:p>
          <a:p>
            <a:pPr>
              <a:spcBef>
                <a:spcPts val="250"/>
              </a:spcBef>
            </a:pPr>
            <a:r>
              <a:rPr sz="1000" b="1" dirty="0">
                <a:solidFill>
                  <a:srgbClr val="1A365D"/>
                </a:solidFill>
                <a:latin typeface="Arial"/>
              </a:rPr>
              <a:t>• Reconciliation Bottlenecks: </a:t>
            </a:r>
            <a:r>
              <a:rPr sz="1000" dirty="0">
                <a:solidFill>
                  <a:srgbClr val="222222"/>
                </a:solidFill>
                <a:latin typeface="Arial"/>
              </a:rPr>
              <a:t>Difficulties cross-verifying declared enrolments against actual student records and AICTE approval ceilings.</a:t>
            </a:r>
          </a:p>
          <a:p>
            <a:pPr>
              <a:spcBef>
                <a:spcPts val="250"/>
              </a:spcBef>
            </a:pPr>
            <a:r>
              <a:rPr sz="1000" b="1" dirty="0">
                <a:solidFill>
                  <a:srgbClr val="1A365D"/>
                </a:solidFill>
                <a:latin typeface="Arial"/>
              </a:rPr>
              <a:t>• Intake &amp; Duplicate Risks: </a:t>
            </a:r>
            <a:r>
              <a:rPr sz="1000" dirty="0">
                <a:solidFill>
                  <a:srgbClr val="222222"/>
                </a:solidFill>
                <a:latin typeface="Arial"/>
              </a:rPr>
              <a:t>Lack of automated visibility into over-intake breaches, quota diversion, and concurrent multi-college claims.</a:t>
            </a:r>
          </a:p>
        </p:txBody>
      </p:sp>
      <p:sp>
        <p:nvSpPr>
          <p:cNvPr id="15365" name="Rounded Rectangle 15364"/>
          <p:cNvSpPr/>
          <p:nvPr/>
        </p:nvSpPr>
        <p:spPr>
          <a:xfrm>
            <a:off x="365760" y="2633472"/>
            <a:ext cx="5623560" cy="14447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66" name="Rounded Rectangle 15365"/>
          <p:cNvSpPr/>
          <p:nvPr/>
        </p:nvSpPr>
        <p:spPr>
          <a:xfrm>
            <a:off x="475488" y="2523744"/>
            <a:ext cx="5404104" cy="274320"/>
          </a:xfrm>
          <a:prstGeom prst="roundRect">
            <a:avLst/>
          </a:prstGeom>
          <a:solidFill>
            <a:srgbClr val="1122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73152" tIns="9144" rIns="73152" bIns="9144" rtlCol="0" anchor="ctr"/>
          <a:lstStyle/>
          <a:p>
            <a:pPr algn="ctr">
              <a:defRPr sz="950" b="1">
                <a:solidFill>
                  <a:srgbClr val="FFFFFF"/>
                </a:solidFill>
                <a:latin typeface="Arial"/>
              </a:defRPr>
            </a:pPr>
            <a:r>
              <a:t>2. WHAT PRAMAAN-AICTE IMPLEMENTS</a:t>
            </a:r>
          </a:p>
        </p:txBody>
      </p:sp>
      <p:sp>
        <p:nvSpPr>
          <p:cNvPr id="15367" name="TextBox 15366"/>
          <p:cNvSpPr txBox="1"/>
          <p:nvPr/>
        </p:nvSpPr>
        <p:spPr>
          <a:xfrm>
            <a:off x="475488" y="2816352"/>
            <a:ext cx="5404104" cy="12252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</a:pPr>
            <a:r>
              <a:rPr sz="900" b="1" dirty="0">
                <a:solidFill>
                  <a:srgbClr val="112266"/>
                </a:solidFill>
                <a:latin typeface="Arial"/>
              </a:rPr>
              <a:t>• Decoupled Institutional Portals: </a:t>
            </a:r>
            <a:r>
              <a:rPr sz="900" dirty="0">
                <a:solidFill>
                  <a:srgbClr val="222222"/>
                </a:solidFill>
                <a:latin typeface="Arial"/>
              </a:rPr>
              <a:t>Role-separated desks for College submission and Central AICTE regulatory governance.</a:t>
            </a:r>
          </a:p>
          <a:p>
            <a:pPr>
              <a:spcBef>
                <a:spcPts val="250"/>
              </a:spcBef>
            </a:pPr>
            <a:r>
              <a:rPr sz="900" b="1" dirty="0">
                <a:solidFill>
                  <a:srgbClr val="112266"/>
                </a:solidFill>
                <a:latin typeface="Arial"/>
              </a:rPr>
              <a:t>• Automated Ingestion Desk: </a:t>
            </a:r>
            <a:r>
              <a:rPr sz="900" dirty="0">
                <a:solidFill>
                  <a:srgbClr val="222222"/>
                </a:solidFill>
                <a:latin typeface="Arial"/>
              </a:rPr>
              <a:t>CSV/Excel file parsing with resilient column alias mapping into standard staging rows.</a:t>
            </a:r>
          </a:p>
          <a:p>
            <a:pPr>
              <a:spcBef>
                <a:spcPts val="250"/>
              </a:spcBef>
            </a:pPr>
            <a:r>
              <a:rPr sz="900" b="1" dirty="0">
                <a:solidFill>
                  <a:srgbClr val="112266"/>
                </a:solidFill>
                <a:latin typeface="Arial"/>
              </a:rPr>
              <a:t>• Deterministic 3-Way Reconciliation: </a:t>
            </a:r>
            <a:r>
              <a:rPr sz="900" dirty="0">
                <a:solidFill>
                  <a:srgbClr val="222222"/>
                </a:solidFill>
                <a:latin typeface="Arial"/>
              </a:rPr>
              <a:t>Pure Python comparison engine cross-checking declarations, staged student records, and approved capacity.</a:t>
            </a:r>
          </a:p>
          <a:p>
            <a:pPr>
              <a:spcBef>
                <a:spcPts val="250"/>
              </a:spcBef>
            </a:pPr>
            <a:r>
              <a:rPr sz="900" b="1" dirty="0">
                <a:solidFill>
                  <a:srgbClr val="112266"/>
                </a:solidFill>
                <a:latin typeface="Arial"/>
              </a:rPr>
              <a:t>• Persisted Validation Runs: </a:t>
            </a:r>
            <a:r>
              <a:rPr sz="900" dirty="0">
                <a:solidFill>
                  <a:srgbClr val="222222"/>
                </a:solidFill>
                <a:latin typeface="Arial"/>
              </a:rPr>
              <a:t>Stores row-level findings with precise classification: approved, quota breach, syntax error, or duplicate.</a:t>
            </a:r>
          </a:p>
        </p:txBody>
      </p:sp>
      <p:sp>
        <p:nvSpPr>
          <p:cNvPr id="15368" name="Rounded Rectangle 15367"/>
          <p:cNvSpPr/>
          <p:nvPr/>
        </p:nvSpPr>
        <p:spPr>
          <a:xfrm>
            <a:off x="365760" y="4206240"/>
            <a:ext cx="5623560" cy="1417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69" name="Rounded Rectangle 15368"/>
          <p:cNvSpPr/>
          <p:nvPr/>
        </p:nvSpPr>
        <p:spPr>
          <a:xfrm>
            <a:off x="475488" y="4096512"/>
            <a:ext cx="5404104" cy="274320"/>
          </a:xfrm>
          <a:prstGeom prst="roundRect">
            <a:avLst/>
          </a:prstGeom>
          <a:solidFill>
            <a:srgbClr val="008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73152" tIns="9144" rIns="73152" bIns="9144" rtlCol="0" anchor="ctr"/>
          <a:lstStyle/>
          <a:p>
            <a:pPr algn="ctr">
              <a:defRPr sz="950" b="1">
                <a:solidFill>
                  <a:srgbClr val="FFFFFF"/>
                </a:solidFill>
                <a:latin typeface="Arial"/>
              </a:defRPr>
            </a:pPr>
            <a:r>
              <a:t>3. KEY WORKFLOW &amp; GOVERNANCE VALUE</a:t>
            </a:r>
          </a:p>
        </p:txBody>
      </p:sp>
      <p:sp>
        <p:nvSpPr>
          <p:cNvPr id="15370" name="TextBox 15369"/>
          <p:cNvSpPr txBox="1"/>
          <p:nvPr/>
        </p:nvSpPr>
        <p:spPr>
          <a:xfrm>
            <a:off x="475488" y="4389120"/>
            <a:ext cx="5404104" cy="12234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</a:pPr>
            <a:r>
              <a:rPr sz="900" b="1" dirty="0">
                <a:solidFill>
                  <a:srgbClr val="008C6E"/>
                </a:solidFill>
                <a:latin typeface="Arial"/>
              </a:rPr>
              <a:t>• Explainable Row-Level Findings: </a:t>
            </a:r>
            <a:r>
              <a:rPr sz="900" dirty="0">
                <a:solidFill>
                  <a:srgbClr val="222222"/>
                </a:solidFill>
                <a:latin typeface="Arial"/>
              </a:rPr>
              <a:t>Direct, transparent feedback explaining specific discrepancy causes without opaque batch rejection.</a:t>
            </a:r>
          </a:p>
          <a:p>
            <a:pPr>
              <a:spcBef>
                <a:spcPts val="250"/>
              </a:spcBef>
            </a:pPr>
            <a:r>
              <a:rPr sz="900" b="1" dirty="0">
                <a:solidFill>
                  <a:srgbClr val="008C6E"/>
                </a:solidFill>
                <a:latin typeface="Arial"/>
              </a:rPr>
              <a:t>• Quarantine &amp; Resubmission: </a:t>
            </a:r>
            <a:r>
              <a:rPr sz="900" dirty="0">
                <a:solidFill>
                  <a:srgbClr val="222222"/>
                </a:solidFill>
                <a:latin typeface="Arial"/>
              </a:rPr>
              <a:t>Interactive in-browser quarantine sandbox allowing institutions to correct data before council commit.</a:t>
            </a:r>
          </a:p>
          <a:p>
            <a:pPr>
              <a:spcBef>
                <a:spcPts val="250"/>
              </a:spcBef>
            </a:pPr>
            <a:r>
              <a:rPr sz="900" b="1" dirty="0">
                <a:solidFill>
                  <a:srgbClr val="008C6E"/>
                </a:solidFill>
                <a:latin typeface="Arial"/>
              </a:rPr>
              <a:t>• Controlled Central Decisions: </a:t>
            </a:r>
            <a:r>
              <a:rPr sz="900" dirty="0">
                <a:solidFill>
                  <a:srgbClr val="222222"/>
                </a:solidFill>
                <a:latin typeface="Arial"/>
              </a:rPr>
              <a:t>Council review workflow supporting formal decisions: approve, return for correction, or reject.</a:t>
            </a:r>
          </a:p>
          <a:p>
            <a:pPr>
              <a:spcBef>
                <a:spcPts val="250"/>
              </a:spcBef>
            </a:pPr>
            <a:r>
              <a:rPr sz="900" b="1" dirty="0">
                <a:solidFill>
                  <a:srgbClr val="008C6E"/>
                </a:solidFill>
                <a:latin typeface="Arial"/>
              </a:rPr>
              <a:t>• Audit Traceability: </a:t>
            </a:r>
            <a:r>
              <a:rPr sz="900" dirty="0">
                <a:solidFill>
                  <a:srgbClr val="222222"/>
                </a:solidFill>
                <a:latin typeface="Arial"/>
              </a:rPr>
              <a:t>Complete validation run history and append-only sequential SHA-256 audit chaining across actions.</a:t>
            </a:r>
          </a:p>
        </p:txBody>
      </p:sp>
      <p:sp>
        <p:nvSpPr>
          <p:cNvPr id="15371" name="Rounded Rectangle 15370"/>
          <p:cNvSpPr/>
          <p:nvPr/>
        </p:nvSpPr>
        <p:spPr>
          <a:xfrm>
            <a:off x="6172200" y="1115568"/>
            <a:ext cx="5623560" cy="450799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72" name="Rounded Rectangle 15371"/>
          <p:cNvSpPr/>
          <p:nvPr/>
        </p:nvSpPr>
        <p:spPr>
          <a:xfrm>
            <a:off x="6309360" y="1005840"/>
            <a:ext cx="5349240" cy="292608"/>
          </a:xfrm>
          <a:prstGeom prst="roundRect">
            <a:avLst/>
          </a:prstGeom>
          <a:solidFill>
            <a:srgbClr val="1122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73152" tIns="9144" rIns="73152" bIns="9144" rtlCol="0" anchor="ctr"/>
          <a:lstStyle/>
          <a:p>
            <a:pPr algn="ctr">
              <a:defRPr sz="950" b="1">
                <a:solidFill>
                  <a:srgbClr val="FFFFFF"/>
                </a:solidFill>
                <a:latin typeface="Arial"/>
              </a:defRPr>
            </a:pPr>
            <a:r>
              <a:t>AICTE CENTRAL APEX COMMAND &amp; RECONCILIATION DASHBOARD</a:t>
            </a:r>
          </a:p>
        </p:txBody>
      </p:sp>
      <p:pic>
        <p:nvPicPr>
          <p:cNvPr id="15373" name="Picture 15372" descr="02_dashboard_overvie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1928" y="1353312"/>
            <a:ext cx="5404104" cy="2971800"/>
          </a:xfrm>
          <a:prstGeom prst="rect">
            <a:avLst/>
          </a:prstGeom>
        </p:spPr>
      </p:pic>
      <p:sp>
        <p:nvSpPr>
          <p:cNvPr id="15374" name="TextBox 15373"/>
          <p:cNvSpPr txBox="1"/>
          <p:nvPr/>
        </p:nvSpPr>
        <p:spPr>
          <a:xfrm>
            <a:off x="6281928" y="4370832"/>
            <a:ext cx="5404104" cy="97462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</a:pPr>
            <a:r>
              <a:rPr sz="1000" b="1" dirty="0">
                <a:solidFill>
                  <a:srgbClr val="008C6E"/>
                </a:solidFill>
                <a:latin typeface="Arial"/>
              </a:rPr>
              <a:t>✓ Central Intake Intelligence: </a:t>
            </a:r>
            <a:r>
              <a:rPr sz="1000" dirty="0">
                <a:solidFill>
                  <a:srgbClr val="222222"/>
                </a:solidFill>
                <a:latin typeface="Arial"/>
              </a:rPr>
              <a:t>Live monitoring of sanctioned intake vs enrolled students across </a:t>
            </a:r>
            <a:r>
              <a:rPr sz="1000" dirty="0" err="1">
                <a:solidFill>
                  <a:srgbClr val="222222"/>
                </a:solidFill>
                <a:latin typeface="Arial"/>
              </a:rPr>
              <a:t>B.Tech</a:t>
            </a:r>
            <a:r>
              <a:rPr sz="1000" dirty="0">
                <a:solidFill>
                  <a:srgbClr val="222222"/>
                </a:solidFill>
                <a:latin typeface="Arial"/>
              </a:rPr>
              <a:t>, MCA, and Diploma.</a:t>
            </a:r>
          </a:p>
          <a:p>
            <a:pPr>
              <a:spcBef>
                <a:spcPts val="200"/>
              </a:spcBef>
            </a:pPr>
            <a:r>
              <a:rPr sz="1000" b="1" dirty="0">
                <a:solidFill>
                  <a:srgbClr val="008C6E"/>
                </a:solidFill>
                <a:latin typeface="Arial"/>
              </a:rPr>
              <a:t>✓ Deterministic Review Desk: </a:t>
            </a:r>
            <a:r>
              <a:rPr sz="1000" dirty="0">
                <a:solidFill>
                  <a:srgbClr val="222222"/>
                </a:solidFill>
                <a:latin typeface="Arial"/>
              </a:rPr>
              <a:t>Instant identification of seat limit breaches, unverified candidates, and duplicate claims.</a:t>
            </a:r>
          </a:p>
          <a:p>
            <a:pPr>
              <a:spcBef>
                <a:spcPts val="200"/>
              </a:spcBef>
            </a:pPr>
            <a:r>
              <a:rPr sz="1000" b="1" dirty="0">
                <a:solidFill>
                  <a:srgbClr val="008C6E"/>
                </a:solidFill>
                <a:latin typeface="Arial"/>
              </a:rPr>
              <a:t>✓ Multi-Tenant Governance: </a:t>
            </a:r>
            <a:r>
              <a:rPr sz="1000" dirty="0">
                <a:solidFill>
                  <a:srgbClr val="222222"/>
                </a:solidFill>
                <a:latin typeface="Arial"/>
              </a:rPr>
              <a:t>Seamless institutional isolation between AICTE Central Regulators, DTU Delhi, and COEP Pune.</a:t>
            </a:r>
          </a:p>
        </p:txBody>
      </p:sp>
      <p:sp>
        <p:nvSpPr>
          <p:cNvPr id="15375" name="Rounded Rectangle 15374"/>
          <p:cNvSpPr/>
          <p:nvPr/>
        </p:nvSpPr>
        <p:spPr>
          <a:xfrm>
            <a:off x="365760" y="5760720"/>
            <a:ext cx="2697480" cy="292608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00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>
              <a:defRPr sz="850" b="1">
                <a:solidFill>
                  <a:srgbClr val="008C6E"/>
                </a:solidFill>
                <a:latin typeface="Arial"/>
              </a:defRPr>
            </a:pPr>
            <a:r>
              <a:rPr dirty="0"/>
              <a:t>✓ Deterministic Python Core</a:t>
            </a:r>
          </a:p>
        </p:txBody>
      </p:sp>
      <p:sp>
        <p:nvSpPr>
          <p:cNvPr id="15376" name="Rounded Rectangle 15375"/>
          <p:cNvSpPr/>
          <p:nvPr/>
        </p:nvSpPr>
        <p:spPr>
          <a:xfrm>
            <a:off x="3246120" y="5760720"/>
            <a:ext cx="2697480" cy="292608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1122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>
              <a:defRPr sz="850" b="1">
                <a:solidFill>
                  <a:srgbClr val="112266"/>
                </a:solidFill>
                <a:latin typeface="Arial"/>
              </a:defRPr>
            </a:pPr>
            <a:r>
              <a:rPr dirty="0"/>
              <a:t>⚖️ 3-Way Cross-Reconciliation</a:t>
            </a:r>
          </a:p>
        </p:txBody>
      </p:sp>
      <p:sp>
        <p:nvSpPr>
          <p:cNvPr id="15377" name="Rounded Rectangle 15376"/>
          <p:cNvSpPr/>
          <p:nvPr/>
        </p:nvSpPr>
        <p:spPr>
          <a:xfrm>
            <a:off x="6172200" y="5760720"/>
            <a:ext cx="2697480" cy="292608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1A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>
              <a:defRPr sz="850" b="1">
                <a:solidFill>
                  <a:srgbClr val="1A365D"/>
                </a:solidFill>
                <a:latin typeface="Arial"/>
              </a:defRPr>
            </a:pPr>
            <a:r>
              <a:t>🔒 Cryptographic Verification &amp; Audit</a:t>
            </a:r>
          </a:p>
        </p:txBody>
      </p:sp>
      <p:sp>
        <p:nvSpPr>
          <p:cNvPr id="15378" name="Rounded Rectangle 15377"/>
          <p:cNvSpPr/>
          <p:nvPr/>
        </p:nvSpPr>
        <p:spPr>
          <a:xfrm>
            <a:off x="9098280" y="5760720"/>
            <a:ext cx="2697480" cy="292608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00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>
              <a:defRPr sz="850" b="1">
                <a:solidFill>
                  <a:srgbClr val="008C6E"/>
                </a:solidFill>
                <a:latin typeface="Arial"/>
              </a:defRPr>
            </a:pPr>
            <a:r>
              <a:t>🛡️ 64/64 Verified Passing Tests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691640" y="164592"/>
            <a:ext cx="8092440" cy="777240"/>
          </a:xfrm>
        </p:spPr>
        <p:txBody>
          <a:bodyPr wrap="square"/>
          <a:lstStyle/>
          <a:p>
            <a:pPr algn="l" eaLnBrk="1" hangingPunct="1">
              <a:defRPr sz="1650" b="1">
                <a:solidFill>
                  <a:srgbClr val="112266"/>
                </a:solidFill>
                <a:latin typeface="Arial"/>
              </a:defRPr>
            </a:pPr>
            <a:r>
              <a:t>TECHNICAL APPROACH AND SYSTEM ARCHITECTURE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058400" y="6382512"/>
            <a:ext cx="1645920" cy="365760"/>
          </a:xfrm>
        </p:spPr>
        <p:txBody>
          <a:bodyPr/>
          <a:lstStyle/>
          <a:p>
            <a:pPr algn="r">
              <a:defRPr sz="1000" b="1">
                <a:solidFill>
                  <a:srgbClr val="FFFFFF"/>
                </a:solidFill>
                <a:latin typeface="Arial"/>
              </a:defRPr>
            </a:pPr>
            <a:r>
              <a:t>3</a:t>
            </a:r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2743200" y="6382512"/>
            <a:ext cx="6702552" cy="365760"/>
          </a:xfrm>
        </p:spPr>
        <p:txBody>
          <a:bodyPr/>
          <a:lstStyle/>
          <a:p>
            <a:pPr algn="ctr">
              <a:defRPr sz="1000">
                <a:solidFill>
                  <a:srgbClr val="FFFFFF"/>
                </a:solidFill>
                <a:latin typeface="Arial"/>
              </a:defRPr>
            </a:pPr>
            <a:r>
              <a:t>@ TCE_Yquanto | Smart India Hackathon 2026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274320" y="182880"/>
            <a:ext cx="1371600" cy="685800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none" lIns="18288" rIns="18288" rtlCol="0" anchor="ctr"/>
          <a:lstStyle/>
          <a:p>
            <a:pPr algn="ctr">
              <a:defRPr sz="950" b="1">
                <a:solidFill>
                  <a:srgbClr val="112266"/>
                </a:solidFill>
                <a:latin typeface="Arial"/>
              </a:defRPr>
            </a:pPr>
            <a:r>
              <a:t>TCE_Yquanto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365760" y="1115568"/>
            <a:ext cx="5623560" cy="495604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11" name="Rounded Rectangle 17410"/>
          <p:cNvSpPr/>
          <p:nvPr/>
        </p:nvSpPr>
        <p:spPr>
          <a:xfrm>
            <a:off x="502920" y="1005840"/>
            <a:ext cx="5349240" cy="292608"/>
          </a:xfrm>
          <a:prstGeom prst="roundRect">
            <a:avLst/>
          </a:prstGeom>
          <a:solidFill>
            <a:srgbClr val="1122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73152" tIns="9144" rIns="73152" bIns="9144" rtlCol="0" anchor="ctr"/>
          <a:lstStyle/>
          <a:p>
            <a:pPr algn="ctr">
              <a:defRPr sz="950" b="1">
                <a:solidFill>
                  <a:srgbClr val="FFFFFF"/>
                </a:solidFill>
                <a:latin typeface="Arial"/>
              </a:defRPr>
            </a:pPr>
            <a:r>
              <a:t>5-STAGE RECONCILIATION &amp; GOVERNANCE PIPELINE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502920" y="1389888"/>
            <a:ext cx="5349240" cy="84124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13" name="TextBox 17412"/>
          <p:cNvSpPr txBox="1"/>
          <p:nvPr/>
        </p:nvSpPr>
        <p:spPr>
          <a:xfrm>
            <a:off x="566928" y="1435608"/>
            <a:ext cx="5221224" cy="53347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1" dirty="0">
                <a:solidFill>
                  <a:srgbClr val="008C6E"/>
                </a:solidFill>
                <a:latin typeface="Arial"/>
              </a:rPr>
              <a:t>STAGE 1: INSTITUTIONAL INGESTION &amp; MAPPING</a:t>
            </a:r>
          </a:p>
          <a:p>
            <a:pPr>
              <a:spcBef>
                <a:spcPts val="200"/>
              </a:spcBef>
            </a:pPr>
            <a:r>
              <a:rPr sz="1100" dirty="0">
                <a:solidFill>
                  <a:srgbClr val="222222"/>
                </a:solidFill>
                <a:latin typeface="Arial"/>
              </a:rPr>
              <a:t>Institutional user authenticates via JWT; uploads CSV/Excel student admissions file. Header normalizer maps diverse column aliases into standard schema.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502920" y="2304288"/>
            <a:ext cx="5349240" cy="84124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15" name="TextBox 17414"/>
          <p:cNvSpPr txBox="1"/>
          <p:nvPr/>
        </p:nvSpPr>
        <p:spPr>
          <a:xfrm>
            <a:off x="566928" y="2350008"/>
            <a:ext cx="5221224" cy="53347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1" dirty="0">
                <a:solidFill>
                  <a:srgbClr val="1A365D"/>
                </a:solidFill>
                <a:latin typeface="Arial"/>
              </a:rPr>
              <a:t>STAGE 2: DETERMINISTIC PREFLIGHT SCREENING</a:t>
            </a:r>
          </a:p>
          <a:p>
            <a:pPr>
              <a:spcBef>
                <a:spcPts val="200"/>
              </a:spcBef>
            </a:pPr>
            <a:r>
              <a:rPr sz="1100" dirty="0">
                <a:solidFill>
                  <a:srgbClr val="222222"/>
                </a:solidFill>
                <a:latin typeface="Arial"/>
              </a:rPr>
              <a:t>Fast preflight validation checks mandatory identifier syntax, field types, and isolates corrupted records into quarantine staging.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502920" y="3218688"/>
            <a:ext cx="5349240" cy="84124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17" name="TextBox 17416"/>
          <p:cNvSpPr txBox="1"/>
          <p:nvPr/>
        </p:nvSpPr>
        <p:spPr>
          <a:xfrm>
            <a:off x="566928" y="3264408"/>
            <a:ext cx="5221224" cy="53347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1" dirty="0">
                <a:solidFill>
                  <a:srgbClr val="112266"/>
                </a:solidFill>
                <a:latin typeface="Arial"/>
              </a:rPr>
              <a:t>STAGE 3: 3-WAY RECONCILIATION ENGINE</a:t>
            </a:r>
          </a:p>
          <a:p>
            <a:pPr>
              <a:spcBef>
                <a:spcPts val="200"/>
              </a:spcBef>
            </a:pPr>
            <a:r>
              <a:rPr sz="1100" dirty="0">
                <a:solidFill>
                  <a:srgbClr val="222222"/>
                </a:solidFill>
                <a:latin typeface="Arial"/>
              </a:rPr>
              <a:t>Deterministic Python engine compares staged records against institutional declarations, approved </a:t>
            </a:r>
            <a:r>
              <a:rPr sz="1100" dirty="0" err="1">
                <a:solidFill>
                  <a:srgbClr val="222222"/>
                </a:solidFill>
                <a:latin typeface="Arial"/>
              </a:rPr>
              <a:t>programme</a:t>
            </a:r>
            <a:r>
              <a:rPr sz="1100" dirty="0">
                <a:solidFill>
                  <a:srgbClr val="222222"/>
                </a:solidFill>
                <a:latin typeface="Arial"/>
              </a:rPr>
              <a:t> capacities, and synthetic reference records.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502920" y="4133088"/>
            <a:ext cx="5349240" cy="84124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19" name="TextBox 17418"/>
          <p:cNvSpPr txBox="1"/>
          <p:nvPr/>
        </p:nvSpPr>
        <p:spPr>
          <a:xfrm>
            <a:off x="566928" y="4178808"/>
            <a:ext cx="5221224" cy="53347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1" dirty="0">
                <a:solidFill>
                  <a:srgbClr val="1A56DB"/>
                </a:solidFill>
                <a:latin typeface="Arial"/>
              </a:rPr>
              <a:t>STAGE 4: FINDINGS PERSISTENCE &amp; SANDBOX</a:t>
            </a:r>
          </a:p>
          <a:p>
            <a:pPr>
              <a:spcBef>
                <a:spcPts val="200"/>
              </a:spcBef>
            </a:pPr>
            <a:r>
              <a:rPr sz="1100" dirty="0">
                <a:solidFill>
                  <a:srgbClr val="222222"/>
                </a:solidFill>
                <a:latin typeface="Arial"/>
              </a:rPr>
              <a:t>Persists validation run records, row-level error findings, and enables in-browser quarantine sandbox for institutional dispute resolution.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502920" y="5047488"/>
            <a:ext cx="5349240" cy="84124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21" name="TextBox 17420"/>
          <p:cNvSpPr txBox="1"/>
          <p:nvPr/>
        </p:nvSpPr>
        <p:spPr>
          <a:xfrm>
            <a:off x="566928" y="5093208"/>
            <a:ext cx="5221224" cy="53347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1" dirty="0">
                <a:solidFill>
                  <a:srgbClr val="008C6E"/>
                </a:solidFill>
                <a:latin typeface="Arial"/>
              </a:rPr>
              <a:t>STAGE 5: CENTRAL REVIEW &amp; VERIFICATION PROOFS</a:t>
            </a:r>
          </a:p>
          <a:p>
            <a:pPr>
              <a:spcBef>
                <a:spcPts val="200"/>
              </a:spcBef>
            </a:pPr>
            <a:r>
              <a:rPr sz="1100" dirty="0">
                <a:solidFill>
                  <a:srgbClr val="222222"/>
                </a:solidFill>
                <a:latin typeface="Arial"/>
              </a:rPr>
              <a:t>AICTE Central reviews batch: approves, returns for correction, or rejects. Generates Ed25519-signed verification receipts and appends SHA-256 audit events.</a:t>
            </a:r>
          </a:p>
        </p:txBody>
      </p:sp>
      <p:sp>
        <p:nvSpPr>
          <p:cNvPr id="17422" name="Rounded Rectangle 17421"/>
          <p:cNvSpPr/>
          <p:nvPr/>
        </p:nvSpPr>
        <p:spPr>
          <a:xfrm>
            <a:off x="6172200" y="1115568"/>
            <a:ext cx="562356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23" name="Rounded Rectangle 17422"/>
          <p:cNvSpPr/>
          <p:nvPr/>
        </p:nvSpPr>
        <p:spPr>
          <a:xfrm>
            <a:off x="6309360" y="1005840"/>
            <a:ext cx="5349240" cy="274320"/>
          </a:xfrm>
          <a:prstGeom prst="round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73152" tIns="9144" rIns="73152" bIns="9144" rtlCol="0" anchor="ctr"/>
          <a:lstStyle/>
          <a:p>
            <a:pPr algn="ctr">
              <a:defRPr sz="950" b="1">
                <a:solidFill>
                  <a:srgbClr val="FFFFFF"/>
                </a:solidFill>
                <a:latin typeface="Arial"/>
              </a:defRPr>
            </a:pPr>
            <a:r>
              <a:t>VERIFIED 4-LAYER SYSTEM ARCHITECTURE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6309360" y="1353312"/>
            <a:ext cx="5349240" cy="150810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</a:pPr>
            <a:r>
              <a:rPr sz="1100" b="1" dirty="0">
                <a:solidFill>
                  <a:srgbClr val="112266"/>
                </a:solidFill>
                <a:latin typeface="Arial"/>
              </a:rPr>
              <a:t>• Presentation Layer: </a:t>
            </a:r>
            <a:r>
              <a:rPr sz="1100" dirty="0">
                <a:solidFill>
                  <a:srgbClr val="222222"/>
                </a:solidFill>
                <a:latin typeface="Arial"/>
              </a:rPr>
              <a:t>Next.js 14 (App Router), TypeScript, Tailwind CSS, Recharts for analytics.</a:t>
            </a:r>
          </a:p>
          <a:p>
            <a:pPr>
              <a:spcBef>
                <a:spcPts val="400"/>
              </a:spcBef>
            </a:pPr>
            <a:r>
              <a:rPr sz="1100" b="1" dirty="0">
                <a:solidFill>
                  <a:srgbClr val="112266"/>
                </a:solidFill>
                <a:latin typeface="Arial"/>
              </a:rPr>
              <a:t>• Application &amp; API: </a:t>
            </a:r>
            <a:r>
              <a:rPr sz="1100" dirty="0" err="1">
                <a:solidFill>
                  <a:srgbClr val="222222"/>
                </a:solidFill>
                <a:latin typeface="Arial"/>
              </a:rPr>
              <a:t>FastAPI</a:t>
            </a:r>
            <a:r>
              <a:rPr sz="1100" dirty="0">
                <a:solidFill>
                  <a:srgbClr val="222222"/>
                </a:solidFill>
                <a:latin typeface="Arial"/>
              </a:rPr>
              <a:t> (Modular Monolith), Python 3.10+, </a:t>
            </a:r>
            <a:r>
              <a:rPr sz="1100" dirty="0" err="1">
                <a:solidFill>
                  <a:srgbClr val="222222"/>
                </a:solidFill>
                <a:latin typeface="Arial"/>
              </a:rPr>
              <a:t>Pydantic</a:t>
            </a:r>
            <a:r>
              <a:rPr sz="1100" dirty="0">
                <a:solidFill>
                  <a:srgbClr val="222222"/>
                </a:solidFill>
                <a:latin typeface="Arial"/>
              </a:rPr>
              <a:t> v2, </a:t>
            </a:r>
            <a:r>
              <a:rPr sz="1100" dirty="0" err="1">
                <a:solidFill>
                  <a:srgbClr val="222222"/>
                </a:solidFill>
                <a:latin typeface="Arial"/>
              </a:rPr>
              <a:t>Uvicorn</a:t>
            </a:r>
            <a:r>
              <a:rPr sz="1100" dirty="0">
                <a:solidFill>
                  <a:srgbClr val="222222"/>
                </a:solidFill>
                <a:latin typeface="Arial"/>
              </a:rPr>
              <a:t>, 73 endpoints.</a:t>
            </a:r>
          </a:p>
          <a:p>
            <a:pPr>
              <a:spcBef>
                <a:spcPts val="400"/>
              </a:spcBef>
            </a:pPr>
            <a:r>
              <a:rPr sz="1100" b="1" dirty="0">
                <a:solidFill>
                  <a:srgbClr val="112266"/>
                </a:solidFill>
                <a:latin typeface="Arial"/>
              </a:rPr>
              <a:t>• Persistence &amp; Schemas: </a:t>
            </a:r>
            <a:r>
              <a:rPr sz="1100" dirty="0" err="1">
                <a:solidFill>
                  <a:srgbClr val="222222"/>
                </a:solidFill>
                <a:latin typeface="Arial"/>
              </a:rPr>
              <a:t>SQLAlchemy</a:t>
            </a:r>
            <a:r>
              <a:rPr sz="1100" dirty="0">
                <a:solidFill>
                  <a:srgbClr val="222222"/>
                </a:solidFill>
                <a:latin typeface="Arial"/>
              </a:rPr>
              <a:t> ORM, PostgreSQL (20 tables with RLS enabled) / SQLite WAL mode.</a:t>
            </a:r>
          </a:p>
          <a:p>
            <a:pPr>
              <a:spcBef>
                <a:spcPts val="400"/>
              </a:spcBef>
            </a:pPr>
            <a:r>
              <a:rPr sz="1100" b="1" dirty="0">
                <a:solidFill>
                  <a:srgbClr val="112266"/>
                </a:solidFill>
                <a:latin typeface="Arial"/>
              </a:rPr>
              <a:t>• Cryptography &amp; Security: </a:t>
            </a:r>
            <a:r>
              <a:rPr sz="1100" dirty="0">
                <a:solidFill>
                  <a:srgbClr val="222222"/>
                </a:solidFill>
                <a:latin typeface="Arial"/>
              </a:rPr>
              <a:t>Ed25519 (RFC 8032 signing), Keyed HMAC-SHA256, sequential SHA-256 audit chaining.</a:t>
            </a:r>
          </a:p>
        </p:txBody>
      </p:sp>
      <p:sp>
        <p:nvSpPr>
          <p:cNvPr id="17425" name="Rounded Rectangle 17424"/>
          <p:cNvSpPr/>
          <p:nvPr/>
        </p:nvSpPr>
        <p:spPr>
          <a:xfrm>
            <a:off x="6172200" y="3291840"/>
            <a:ext cx="5623560" cy="277977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26" name="Rounded Rectangle 17425"/>
          <p:cNvSpPr/>
          <p:nvPr/>
        </p:nvSpPr>
        <p:spPr>
          <a:xfrm>
            <a:off x="6309360" y="3182112"/>
            <a:ext cx="5349240" cy="274320"/>
          </a:xfrm>
          <a:prstGeom prst="roundRect">
            <a:avLst/>
          </a:prstGeom>
          <a:solidFill>
            <a:srgbClr val="008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73152" tIns="9144" rIns="73152" bIns="9144" rtlCol="0" anchor="ctr"/>
          <a:lstStyle/>
          <a:p>
            <a:pPr algn="ctr">
              <a:defRPr sz="950" b="1">
                <a:solidFill>
                  <a:srgbClr val="FFFFFF"/>
                </a:solidFill>
                <a:latin typeface="Arial"/>
              </a:defRPr>
            </a:pPr>
            <a:r>
              <a:t>INTERACTIVE QUARANTINE SANDBOX &amp; ROW-LEVEL FINDINGS</a:t>
            </a:r>
          </a:p>
        </p:txBody>
      </p:sp>
      <p:pic>
        <p:nvPicPr>
          <p:cNvPr id="17427" name="Picture 17426" descr="07_interactive_spreadsheet_sandbo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1928" y="3493008"/>
            <a:ext cx="5404104" cy="2194560"/>
          </a:xfrm>
          <a:prstGeom prst="rect">
            <a:avLst/>
          </a:prstGeom>
        </p:spPr>
      </p:pic>
      <p:sp>
        <p:nvSpPr>
          <p:cNvPr id="17428" name="TextBox 17427"/>
          <p:cNvSpPr txBox="1"/>
          <p:nvPr/>
        </p:nvSpPr>
        <p:spPr>
          <a:xfrm>
            <a:off x="6281928" y="5715000"/>
            <a:ext cx="540410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80">
                <a:solidFill>
                  <a:srgbClr val="64748B"/>
                </a:solidFill>
                <a:latin typeface="Arial"/>
              </a:defRPr>
            </a:pPr>
            <a:r>
              <a:rPr dirty="0"/>
              <a:t>Genuine Implemented UI: In-browser editable spreadsheet sandbox isolates validation findings before central commit.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691640" y="164592"/>
            <a:ext cx="8092440" cy="777240"/>
          </a:xfrm>
        </p:spPr>
        <p:txBody>
          <a:bodyPr wrap="square"/>
          <a:lstStyle/>
          <a:p>
            <a:pPr algn="l" eaLnBrk="1" hangingPunct="1">
              <a:defRPr sz="1650" b="1">
                <a:solidFill>
                  <a:srgbClr val="112266"/>
                </a:solidFill>
                <a:latin typeface="Arial"/>
              </a:defRPr>
            </a:pPr>
            <a:r>
              <a:rPr dirty="0"/>
              <a:t>FEASIBILITY, VIABILITY AND RISK MITIGATION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058400" y="6382512"/>
            <a:ext cx="1645920" cy="365760"/>
          </a:xfrm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1000" b="1">
                <a:solidFill>
                  <a:srgbClr val="FFFFFF"/>
                </a:solidFill>
                <a:latin typeface="Arial"/>
              </a:defRPr>
            </a:pPr>
            <a:r>
              <a:t>4</a:t>
            </a:r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2743200" y="6382512"/>
            <a:ext cx="6702552" cy="365760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000">
                <a:solidFill>
                  <a:srgbClr val="FFFFFF"/>
                </a:solidFill>
                <a:latin typeface="Arial"/>
              </a:defRPr>
            </a:pPr>
            <a:r>
              <a:t>@ TCE_Yquanto | Smart India Hackathon 2026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274320" y="182880"/>
            <a:ext cx="1371600" cy="685800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none" lIns="18288" rIns="18288" rtlCol="0" anchor="ctr"/>
          <a:lstStyle/>
          <a:p>
            <a:pPr algn="ctr">
              <a:defRPr sz="950" b="1">
                <a:solidFill>
                  <a:srgbClr val="112266"/>
                </a:solidFill>
                <a:latin typeface="Arial"/>
              </a:defRPr>
            </a:pPr>
            <a:r>
              <a:t>TCE_Yquanto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365760" y="1115568"/>
            <a:ext cx="5623560" cy="495604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11" name="Rounded Rectangle 17410"/>
          <p:cNvSpPr/>
          <p:nvPr/>
        </p:nvSpPr>
        <p:spPr>
          <a:xfrm>
            <a:off x="502920" y="1005840"/>
            <a:ext cx="5349240" cy="292608"/>
          </a:xfrm>
          <a:prstGeom prst="roundRect">
            <a:avLst/>
          </a:prstGeom>
          <a:solidFill>
            <a:srgbClr val="1122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73152" tIns="9144" rIns="73152" bIns="9144" rtlCol="0" anchor="ctr"/>
          <a:lstStyle/>
          <a:p>
            <a:pPr algn="ctr">
              <a:defRPr sz="950" b="1">
                <a:solidFill>
                  <a:srgbClr val="FFFFFF"/>
                </a:solidFill>
                <a:latin typeface="Arial"/>
              </a:defRPr>
            </a:pPr>
            <a:r>
              <a:t>IMPLEMENTATION FEASIBILITY &amp; VERIFIED MATURITY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502920" y="1371600"/>
            <a:ext cx="5349240" cy="38369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</a:pPr>
            <a:r>
              <a:rPr sz="1200" b="1" dirty="0">
                <a:solidFill>
                  <a:srgbClr val="1A365D"/>
                </a:solidFill>
                <a:latin typeface="Arial"/>
              </a:rPr>
              <a:t>• Architectural Feasibility: </a:t>
            </a:r>
            <a:r>
              <a:rPr sz="1200" dirty="0">
                <a:solidFill>
                  <a:srgbClr val="222222"/>
                </a:solidFill>
                <a:latin typeface="Arial"/>
              </a:rPr>
              <a:t>Zero-install web architecture. Standard modern browser access across Windows, Linux, and macOS. Decoupled Next.js client and </a:t>
            </a:r>
            <a:r>
              <a:rPr sz="1200" dirty="0" err="1">
                <a:solidFill>
                  <a:srgbClr val="222222"/>
                </a:solidFill>
                <a:latin typeface="Arial"/>
              </a:rPr>
              <a:t>FastAPI</a:t>
            </a:r>
            <a:r>
              <a:rPr sz="1200" dirty="0">
                <a:solidFill>
                  <a:srgbClr val="222222"/>
                </a:solidFill>
                <a:latin typeface="Arial"/>
              </a:rPr>
              <a:t> modular backend.</a:t>
            </a:r>
          </a:p>
          <a:p>
            <a:pPr>
              <a:spcBef>
                <a:spcPts val="750"/>
              </a:spcBef>
            </a:pPr>
            <a:r>
              <a:rPr sz="1200" b="1" dirty="0">
                <a:solidFill>
                  <a:srgbClr val="1A365D"/>
                </a:solidFill>
                <a:latin typeface="Arial"/>
              </a:rPr>
              <a:t>• Verified Test Suite (64/64 Passing): </a:t>
            </a:r>
            <a:r>
              <a:rPr sz="1200" dirty="0">
                <a:solidFill>
                  <a:srgbClr val="222222"/>
                </a:solidFill>
                <a:latin typeface="Arial"/>
              </a:rPr>
              <a:t>Exhaustive automated verification across 14 test suites covering authentication, institution onboarding, batch upload, deterministic reconciliation, security, and reference data.</a:t>
            </a:r>
          </a:p>
          <a:p>
            <a:pPr>
              <a:spcBef>
                <a:spcPts val="750"/>
              </a:spcBef>
            </a:pPr>
            <a:r>
              <a:rPr sz="1200" b="1" dirty="0">
                <a:solidFill>
                  <a:srgbClr val="1A365D"/>
                </a:solidFill>
                <a:latin typeface="Arial"/>
              </a:rPr>
              <a:t>• Deterministic Logic Integrity: </a:t>
            </a:r>
            <a:r>
              <a:rPr sz="1200" dirty="0">
                <a:solidFill>
                  <a:srgbClr val="222222"/>
                </a:solidFill>
                <a:latin typeface="Arial"/>
              </a:rPr>
              <a:t>Reconciliation logic is pure, explainable Python with explicit rule sets for sanctioned intake and supernumerary quotas; avoids opaque or non-deterministic AI decisions.</a:t>
            </a:r>
          </a:p>
          <a:p>
            <a:pPr>
              <a:spcBef>
                <a:spcPts val="750"/>
              </a:spcBef>
            </a:pPr>
            <a:r>
              <a:rPr sz="1200" b="1" dirty="0">
                <a:solidFill>
                  <a:srgbClr val="1A365D"/>
                </a:solidFill>
                <a:latin typeface="Arial"/>
              </a:rPr>
              <a:t>• Synthetic Data Testing Engine: </a:t>
            </a:r>
            <a:r>
              <a:rPr sz="1200" dirty="0">
                <a:solidFill>
                  <a:srgbClr val="222222"/>
                </a:solidFill>
                <a:latin typeface="Arial"/>
              </a:rPr>
              <a:t>Database-backed synthetic APAAR identities and editable approval/declaration models enable comprehensive pre-deployment stress testing and repeatable verification.</a:t>
            </a:r>
          </a:p>
          <a:p>
            <a:pPr>
              <a:spcBef>
                <a:spcPts val="750"/>
              </a:spcBef>
            </a:pPr>
            <a:r>
              <a:rPr sz="1200" b="1" dirty="0">
                <a:solidFill>
                  <a:srgbClr val="1A365D"/>
                </a:solidFill>
                <a:latin typeface="Arial"/>
              </a:rPr>
              <a:t>• Dual-Dialect Database Support: </a:t>
            </a:r>
            <a:r>
              <a:rPr sz="1200" dirty="0" err="1">
                <a:solidFill>
                  <a:srgbClr val="222222"/>
                </a:solidFill>
                <a:latin typeface="Arial"/>
              </a:rPr>
              <a:t>SQLAlchemy</a:t>
            </a:r>
            <a:r>
              <a:rPr sz="1200" dirty="0">
                <a:solidFill>
                  <a:srgbClr val="222222"/>
                </a:solidFill>
                <a:latin typeface="Arial"/>
              </a:rPr>
              <a:t> ORM architecture with dynamic driver fallback (psycopg3/psycopg2) verified on local SQLite WAL mode and configured PostgreSQL schemas (20 tables, RLS active).</a:t>
            </a:r>
          </a:p>
          <a:p>
            <a:pPr>
              <a:spcBef>
                <a:spcPts val="750"/>
              </a:spcBef>
            </a:pPr>
            <a:r>
              <a:rPr sz="1200" b="1" dirty="0">
                <a:solidFill>
                  <a:srgbClr val="1A365D"/>
                </a:solidFill>
                <a:latin typeface="Arial"/>
              </a:rPr>
              <a:t>• Transparent Deployment Status: </a:t>
            </a:r>
            <a:r>
              <a:rPr sz="1200" dirty="0">
                <a:solidFill>
                  <a:srgbClr val="222222"/>
                </a:solidFill>
                <a:latin typeface="Arial"/>
              </a:rPr>
              <a:t>Application codebase, schemas, and test suites 100% verified locally; cloud Render web deployment is currently pending resolution of cloud environment DNS configuration.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6172200" y="1115568"/>
            <a:ext cx="5623560" cy="495604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14" name="Rounded Rectangle 17413"/>
          <p:cNvSpPr/>
          <p:nvPr/>
        </p:nvSpPr>
        <p:spPr>
          <a:xfrm>
            <a:off x="6309360" y="1005840"/>
            <a:ext cx="5349240" cy="292608"/>
          </a:xfrm>
          <a:prstGeom prst="roundRect">
            <a:avLst/>
          </a:prstGeom>
          <a:solidFill>
            <a:srgbClr val="B4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73152" tIns="9144" rIns="73152" bIns="9144" rtlCol="0" anchor="ctr"/>
          <a:lstStyle/>
          <a:p>
            <a:pPr algn="ctr">
              <a:defRPr sz="950" b="1">
                <a:solidFill>
                  <a:srgbClr val="FFFFFF"/>
                </a:solidFill>
                <a:latin typeface="Arial"/>
              </a:defRPr>
            </a:pPr>
            <a:r>
              <a:t>GOVERNANCE RISKS &amp; TECHNICAL COUNTERMEASURES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6309360" y="1371600"/>
            <a:ext cx="5349240" cy="431400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</a:pPr>
            <a:r>
              <a:rPr sz="1200" b="1" dirty="0">
                <a:solidFill>
                  <a:srgbClr val="B42828"/>
                </a:solidFill>
                <a:latin typeface="Arial"/>
              </a:rPr>
              <a:t>⚠️ Risk: Inconsistent Institutional Spreadsheets: </a:t>
            </a:r>
            <a:r>
              <a:rPr sz="1200" dirty="0">
                <a:solidFill>
                  <a:srgbClr val="222222"/>
                </a:solidFill>
                <a:latin typeface="Arial"/>
              </a:rPr>
              <a:t>Colleges use varying ERP schemas and column headers (e.g. </a:t>
            </a:r>
            <a:r>
              <a:rPr sz="1200" dirty="0" err="1">
                <a:solidFill>
                  <a:srgbClr val="222222"/>
                </a:solidFill>
                <a:latin typeface="Arial"/>
              </a:rPr>
              <a:t>apaar_id</a:t>
            </a:r>
            <a:r>
              <a:rPr sz="1200" dirty="0">
                <a:solidFill>
                  <a:srgbClr val="222222"/>
                </a:solidFill>
                <a:latin typeface="Arial"/>
              </a:rPr>
              <a:t> vs </a:t>
            </a:r>
            <a:r>
              <a:rPr sz="1200" dirty="0" err="1">
                <a:solidFill>
                  <a:srgbClr val="222222"/>
                </a:solidFill>
                <a:latin typeface="Arial"/>
              </a:rPr>
              <a:t>uid</a:t>
            </a:r>
            <a:r>
              <a:rPr sz="1200" dirty="0">
                <a:solidFill>
                  <a:srgbClr val="222222"/>
                </a:solidFill>
                <a:latin typeface="Arial"/>
              </a:rPr>
              <a:t> vs </a:t>
            </a:r>
            <a:r>
              <a:rPr sz="1200" dirty="0" err="1">
                <a:solidFill>
                  <a:srgbClr val="222222"/>
                </a:solidFill>
                <a:latin typeface="Arial"/>
              </a:rPr>
              <a:t>student_apaar</a:t>
            </a:r>
            <a:r>
              <a:rPr sz="1200" dirty="0">
                <a:solidFill>
                  <a:srgbClr val="222222"/>
                </a:solidFill>
                <a:latin typeface="Arial"/>
              </a:rPr>
              <a:t>).</a:t>
            </a:r>
          </a:p>
          <a:p>
            <a:pPr>
              <a:spcBef>
                <a:spcPts val="150"/>
              </a:spcBef>
            </a:pPr>
            <a:r>
              <a:rPr sz="1200" b="1" dirty="0">
                <a:solidFill>
                  <a:srgbClr val="008C6E"/>
                </a:solidFill>
                <a:latin typeface="Arial"/>
              </a:rPr>
              <a:t>  → Control: </a:t>
            </a:r>
            <a:r>
              <a:rPr sz="1200" dirty="0">
                <a:solidFill>
                  <a:srgbClr val="222222"/>
                </a:solidFill>
                <a:latin typeface="Arial"/>
              </a:rPr>
              <a:t>Header alias normalizer maps 50+ divergent column variants into standard canonical schema automatically.</a:t>
            </a:r>
          </a:p>
          <a:p>
            <a:pPr>
              <a:spcBef>
                <a:spcPts val="600"/>
              </a:spcBef>
            </a:pPr>
            <a:r>
              <a:rPr sz="1200" b="1" dirty="0">
                <a:solidFill>
                  <a:srgbClr val="B42828"/>
                </a:solidFill>
                <a:latin typeface="Arial"/>
              </a:rPr>
              <a:t>⚠️ Risk: Student Identifier Privacy Exposure: </a:t>
            </a:r>
            <a:r>
              <a:rPr sz="1200" dirty="0">
                <a:solidFill>
                  <a:srgbClr val="222222"/>
                </a:solidFill>
                <a:latin typeface="Arial"/>
              </a:rPr>
              <a:t>Storing plaintext 12-digit student APAAR identifiers risks data leakage under DPDP Act 2023.</a:t>
            </a:r>
          </a:p>
          <a:p>
            <a:pPr>
              <a:spcBef>
                <a:spcPts val="150"/>
              </a:spcBef>
            </a:pPr>
            <a:r>
              <a:rPr sz="1200" b="1" dirty="0">
                <a:solidFill>
                  <a:srgbClr val="008C6E"/>
                </a:solidFill>
                <a:latin typeface="Arial"/>
              </a:rPr>
              <a:t>  → Control: </a:t>
            </a:r>
            <a:r>
              <a:rPr sz="1200" dirty="0">
                <a:solidFill>
                  <a:srgbClr val="222222"/>
                </a:solidFill>
                <a:latin typeface="Arial"/>
              </a:rPr>
              <a:t>Keyed HMAC-SHA256 pseudonymized indexing and dynamic masking (XXXX-XXXX-9012) ensure zero plaintext PII exposure.</a:t>
            </a:r>
          </a:p>
          <a:p>
            <a:pPr>
              <a:spcBef>
                <a:spcPts val="600"/>
              </a:spcBef>
            </a:pPr>
            <a:r>
              <a:rPr sz="1200" b="1" dirty="0">
                <a:solidFill>
                  <a:srgbClr val="B42828"/>
                </a:solidFill>
                <a:latin typeface="Arial"/>
              </a:rPr>
              <a:t>⚠️ Risk: Multi-Institution Concurrent Admissions: </a:t>
            </a:r>
            <a:r>
              <a:rPr sz="1200" dirty="0">
                <a:solidFill>
                  <a:srgbClr val="222222"/>
                </a:solidFill>
                <a:latin typeface="Arial"/>
              </a:rPr>
              <a:t>Students admitted concurrently across different institutions leading to seat blocking.</a:t>
            </a:r>
          </a:p>
          <a:p>
            <a:pPr>
              <a:spcBef>
                <a:spcPts val="150"/>
              </a:spcBef>
            </a:pPr>
            <a:r>
              <a:rPr sz="1200" b="1" dirty="0">
                <a:solidFill>
                  <a:srgbClr val="008C6E"/>
                </a:solidFill>
                <a:latin typeface="Arial"/>
              </a:rPr>
              <a:t>  → Control: </a:t>
            </a:r>
            <a:r>
              <a:rPr sz="1200" dirty="0">
                <a:solidFill>
                  <a:srgbClr val="222222"/>
                </a:solidFill>
                <a:latin typeface="Arial"/>
              </a:rPr>
              <a:t>Cross-institution collision radar cross-checks active admissions against centralized reference records and flags duplicates.</a:t>
            </a:r>
          </a:p>
          <a:p>
            <a:pPr>
              <a:spcBef>
                <a:spcPts val="600"/>
              </a:spcBef>
            </a:pPr>
            <a:r>
              <a:rPr sz="1200" b="1" dirty="0">
                <a:solidFill>
                  <a:srgbClr val="B42828"/>
                </a:solidFill>
                <a:latin typeface="Arial"/>
              </a:rPr>
              <a:t>⚠️ Risk: Regulatory Non-Repudiation &amp; Tampering: </a:t>
            </a:r>
            <a:r>
              <a:rPr sz="1200" dirty="0">
                <a:solidFill>
                  <a:srgbClr val="222222"/>
                </a:solidFill>
                <a:latin typeface="Arial"/>
              </a:rPr>
              <a:t>Unauthorized insider tampering with approved intake capacity or admission records.</a:t>
            </a:r>
          </a:p>
          <a:p>
            <a:pPr>
              <a:spcBef>
                <a:spcPts val="150"/>
              </a:spcBef>
            </a:pPr>
            <a:r>
              <a:rPr sz="1200" b="1" dirty="0">
                <a:solidFill>
                  <a:srgbClr val="008C6E"/>
                </a:solidFill>
                <a:latin typeface="Arial"/>
              </a:rPr>
              <a:t>  → Control: </a:t>
            </a:r>
            <a:r>
              <a:rPr sz="1200" dirty="0">
                <a:solidFill>
                  <a:srgbClr val="222222"/>
                </a:solidFill>
                <a:latin typeface="Arial"/>
              </a:rPr>
              <a:t>Append-only sequential SHA-256 hash chaining (</a:t>
            </a:r>
            <a:r>
              <a:rPr sz="1200" dirty="0" err="1">
                <a:solidFill>
                  <a:srgbClr val="222222"/>
                </a:solidFill>
                <a:latin typeface="Arial"/>
              </a:rPr>
              <a:t>Hash_n</a:t>
            </a:r>
            <a:r>
              <a:rPr sz="1200" dirty="0">
                <a:solidFill>
                  <a:srgbClr val="222222"/>
                </a:solidFill>
                <a:latin typeface="Arial"/>
              </a:rPr>
              <a:t> = SHA256(</a:t>
            </a:r>
            <a:r>
              <a:rPr sz="1200" dirty="0" err="1">
                <a:solidFill>
                  <a:srgbClr val="222222"/>
                </a:solidFill>
                <a:latin typeface="Arial"/>
              </a:rPr>
              <a:t>Record_n</a:t>
            </a:r>
            <a:r>
              <a:rPr sz="1200" dirty="0">
                <a:solidFill>
                  <a:srgbClr val="222222"/>
                </a:solidFill>
                <a:latin typeface="Arial"/>
              </a:rPr>
              <a:t> || Hash_n-1)) mathematically exposes any tampering.</a:t>
            </a:r>
          </a:p>
          <a:p>
            <a:pPr>
              <a:spcBef>
                <a:spcPts val="600"/>
              </a:spcBef>
            </a:pPr>
            <a:r>
              <a:rPr sz="1200" b="1" dirty="0">
                <a:solidFill>
                  <a:srgbClr val="B42828"/>
                </a:solidFill>
                <a:latin typeface="Arial"/>
              </a:rPr>
              <a:t>⚠️ Risk: Database Driver &amp; Cloud Hosting Mismatch: </a:t>
            </a:r>
            <a:r>
              <a:rPr sz="1200" dirty="0">
                <a:solidFill>
                  <a:srgbClr val="222222"/>
                </a:solidFill>
                <a:latin typeface="Arial"/>
              </a:rPr>
              <a:t>Container deployment failures caused by PostgreSQL driver compatibility or DNS misconfiguration.</a:t>
            </a:r>
          </a:p>
          <a:p>
            <a:pPr>
              <a:spcBef>
                <a:spcPts val="150"/>
              </a:spcBef>
            </a:pPr>
            <a:r>
              <a:rPr sz="1200" b="1" dirty="0">
                <a:solidFill>
                  <a:srgbClr val="008C6E"/>
                </a:solidFill>
                <a:latin typeface="Arial"/>
              </a:rPr>
              <a:t>  → Control: </a:t>
            </a:r>
            <a:r>
              <a:rPr sz="1200" dirty="0">
                <a:solidFill>
                  <a:srgbClr val="222222"/>
                </a:solidFill>
                <a:latin typeface="Arial"/>
              </a:rPr>
              <a:t>Implemented psycopg3/psycopg2 dynamic driver fallback with automated fallback logging and sanitized connection strings.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691640" y="164592"/>
            <a:ext cx="8092440" cy="777240"/>
          </a:xfrm>
        </p:spPr>
        <p:txBody>
          <a:bodyPr wrap="square"/>
          <a:lstStyle/>
          <a:p>
            <a:pPr algn="l" eaLnBrk="1" hangingPunct="1">
              <a:defRPr sz="1650" b="1">
                <a:solidFill>
                  <a:srgbClr val="112266"/>
                </a:solidFill>
                <a:latin typeface="Arial"/>
              </a:defRPr>
            </a:pPr>
            <a:r>
              <a:t>MULTI-STAKEHOLDER IMPACT &amp; DEGREE VERIFICATION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058400" y="6382512"/>
            <a:ext cx="1645920" cy="365760"/>
          </a:xfrm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1000" b="1">
                <a:solidFill>
                  <a:srgbClr val="FFFFFF"/>
                </a:solidFill>
                <a:latin typeface="Arial"/>
              </a:defRPr>
            </a:pPr>
            <a:r>
              <a:t>5</a:t>
            </a:r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2743200" y="6382512"/>
            <a:ext cx="6702552" cy="365760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000">
                <a:solidFill>
                  <a:srgbClr val="FFFFFF"/>
                </a:solidFill>
                <a:latin typeface="Arial"/>
              </a:defRPr>
            </a:pPr>
            <a:r>
              <a:t>@ TCE_Yquanto | Smart India Hackathon 2026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274320" y="182880"/>
            <a:ext cx="1371600" cy="685800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none" lIns="18288" rIns="18288" rtlCol="0" anchor="ctr"/>
          <a:lstStyle/>
          <a:p>
            <a:pPr algn="ctr">
              <a:defRPr sz="950" b="1">
                <a:solidFill>
                  <a:srgbClr val="112266"/>
                </a:solidFill>
                <a:latin typeface="Arial"/>
              </a:defRPr>
            </a:pPr>
            <a:r>
              <a:t>TCE_Yquanto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365760" y="1115568"/>
            <a:ext cx="5623560" cy="495604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11" name="Rounded Rectangle 17410"/>
          <p:cNvSpPr/>
          <p:nvPr/>
        </p:nvSpPr>
        <p:spPr>
          <a:xfrm>
            <a:off x="502920" y="1005840"/>
            <a:ext cx="5349240" cy="292608"/>
          </a:xfrm>
          <a:prstGeom prst="roundRect">
            <a:avLst/>
          </a:prstGeom>
          <a:solidFill>
            <a:srgbClr val="008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73152" tIns="9144" rIns="73152" bIns="9144" rtlCol="0" anchor="ctr"/>
          <a:lstStyle/>
          <a:p>
            <a:pPr algn="ctr">
              <a:defRPr sz="950" b="1">
                <a:solidFill>
                  <a:srgbClr val="FFFFFF"/>
                </a:solidFill>
                <a:latin typeface="Arial"/>
              </a:defRPr>
            </a:pPr>
            <a:r>
              <a:t>MULTI-STAKEHOLDER REGULATORY IMPACT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502920" y="1371600"/>
            <a:ext cx="5349240" cy="38369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</a:pPr>
            <a:r>
              <a:rPr sz="1200" b="1" dirty="0">
                <a:solidFill>
                  <a:srgbClr val="1A365D"/>
                </a:solidFill>
                <a:latin typeface="Arial"/>
              </a:rPr>
              <a:t>• AICTE &amp; Regulatory Councils: </a:t>
            </a:r>
            <a:r>
              <a:rPr sz="1200" dirty="0">
                <a:solidFill>
                  <a:srgbClr val="222222"/>
                </a:solidFill>
                <a:latin typeface="Arial"/>
              </a:rPr>
              <a:t>Comprehensive real-time visibility into institutional enrolment versus sanctioned intake quotas; early detection of unauthorized excess enrolments and quota breaches.</a:t>
            </a:r>
          </a:p>
          <a:p>
            <a:pPr>
              <a:spcBef>
                <a:spcPts val="750"/>
              </a:spcBef>
            </a:pPr>
            <a:r>
              <a:rPr sz="1200" b="1" dirty="0">
                <a:solidFill>
                  <a:srgbClr val="1A365D"/>
                </a:solidFill>
                <a:latin typeface="Arial"/>
              </a:rPr>
              <a:t>• Approved Institutions: </a:t>
            </a:r>
            <a:r>
              <a:rPr sz="1200" dirty="0">
                <a:solidFill>
                  <a:srgbClr val="222222"/>
                </a:solidFill>
                <a:latin typeface="Arial"/>
              </a:rPr>
              <a:t>Standardized data submission, instant row-level discrepancy explanations, and controlled resubmission workflows replacing prolonged paper audit cycles.</a:t>
            </a:r>
          </a:p>
          <a:p>
            <a:pPr>
              <a:spcBef>
                <a:spcPts val="750"/>
              </a:spcBef>
            </a:pPr>
            <a:r>
              <a:rPr sz="1200" b="1" dirty="0">
                <a:solidFill>
                  <a:srgbClr val="1A365D"/>
                </a:solidFill>
                <a:latin typeface="Arial"/>
              </a:rPr>
              <a:t>• Students &amp; Deserving Candidates: </a:t>
            </a:r>
            <a:r>
              <a:rPr sz="1200" dirty="0">
                <a:solidFill>
                  <a:srgbClr val="222222"/>
                </a:solidFill>
                <a:latin typeface="Arial"/>
              </a:rPr>
              <a:t>Transparent tracking protects legitimate seat allocations and safeguards affirmative action quotas from unauthorized commercial reallocation.</a:t>
            </a:r>
          </a:p>
          <a:p>
            <a:pPr>
              <a:spcBef>
                <a:spcPts val="750"/>
              </a:spcBef>
            </a:pPr>
            <a:r>
              <a:rPr sz="1200" b="1" dirty="0">
                <a:solidFill>
                  <a:srgbClr val="1A365D"/>
                </a:solidFill>
                <a:latin typeface="Arial"/>
              </a:rPr>
              <a:t>• Academic Verifiers &amp; Employers: </a:t>
            </a:r>
            <a:r>
              <a:rPr sz="1200" dirty="0">
                <a:solidFill>
                  <a:srgbClr val="222222"/>
                </a:solidFill>
                <a:latin typeface="Arial"/>
              </a:rPr>
              <a:t>Fast offline verification via QR code and cryptographically signed verification receipts without requiring manual institutional registrar confirmation.</a:t>
            </a:r>
          </a:p>
          <a:p>
            <a:pPr>
              <a:spcBef>
                <a:spcPts val="750"/>
              </a:spcBef>
            </a:pPr>
            <a:r>
              <a:rPr sz="1200" b="1" dirty="0">
                <a:solidFill>
                  <a:srgbClr val="1A365D"/>
                </a:solidFill>
                <a:latin typeface="Arial"/>
              </a:rPr>
              <a:t>• Social Equity &amp; Affirmative Action: </a:t>
            </a:r>
            <a:r>
              <a:rPr sz="1200" dirty="0">
                <a:solidFill>
                  <a:srgbClr val="222222"/>
                </a:solidFill>
                <a:latin typeface="Arial"/>
              </a:rPr>
              <a:t>Rigorous enforcement of statutory and supernumerary quotas (TFW, EWS, Kashmiri Migrants) against arbitrary substitution.</a:t>
            </a:r>
          </a:p>
          <a:p>
            <a:pPr>
              <a:spcBef>
                <a:spcPts val="750"/>
              </a:spcBef>
            </a:pPr>
            <a:r>
              <a:rPr sz="1200" b="1" dirty="0">
                <a:solidFill>
                  <a:srgbClr val="1A365D"/>
                </a:solidFill>
                <a:latin typeface="Arial"/>
              </a:rPr>
              <a:t>• Administrative &amp; Paperless Efficiency: </a:t>
            </a:r>
            <a:r>
              <a:rPr sz="1200" dirty="0">
                <a:solidFill>
                  <a:srgbClr val="222222"/>
                </a:solidFill>
                <a:latin typeface="Arial"/>
              </a:rPr>
              <a:t>100% digital data reconciliation replaces manual paperwork, physical affidavits, and physical institutional auditing logistics.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6227741" y="1115568"/>
            <a:ext cx="5623560" cy="495604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14" name="Rounded Rectangle 17413"/>
          <p:cNvSpPr/>
          <p:nvPr/>
        </p:nvSpPr>
        <p:spPr>
          <a:xfrm>
            <a:off x="6309360" y="1005840"/>
            <a:ext cx="5349240" cy="292608"/>
          </a:xfrm>
          <a:prstGeom prst="roundRect">
            <a:avLst/>
          </a:prstGeom>
          <a:solidFill>
            <a:srgbClr val="1122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73152" tIns="9144" rIns="73152" bIns="9144" rtlCol="0" anchor="ctr"/>
          <a:lstStyle/>
          <a:p>
            <a:pPr algn="ctr">
              <a:defRPr sz="950" b="1">
                <a:solidFill>
                  <a:srgbClr val="FFFFFF"/>
                </a:solidFill>
                <a:latin typeface="Arial"/>
              </a:defRPr>
            </a:pPr>
            <a:r>
              <a:t>SIH REQUIREMENT 10: DEGREE CERTIFICATE VERIFICATION</a:t>
            </a:r>
          </a:p>
        </p:txBody>
      </p:sp>
      <p:pic>
        <p:nvPicPr>
          <p:cNvPr id="17415" name="Picture 17414" descr="08_student_certificate_verifi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1928" y="1353312"/>
            <a:ext cx="5404104" cy="2926080"/>
          </a:xfrm>
          <a:prstGeom prst="rect">
            <a:avLst/>
          </a:prstGeom>
        </p:spPr>
      </p:pic>
      <p:sp>
        <p:nvSpPr>
          <p:cNvPr id="17416" name="TextBox 17415"/>
          <p:cNvSpPr txBox="1"/>
          <p:nvPr/>
        </p:nvSpPr>
        <p:spPr>
          <a:xfrm>
            <a:off x="6281928" y="4370832"/>
            <a:ext cx="5404104" cy="12080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</a:pPr>
            <a:r>
              <a:rPr sz="1050" b="1" dirty="0">
                <a:solidFill>
                  <a:srgbClr val="008C6E"/>
                </a:solidFill>
                <a:latin typeface="Arial"/>
              </a:rPr>
              <a:t>✓ Dual Identity Display: </a:t>
            </a:r>
            <a:r>
              <a:rPr sz="1050" dirty="0">
                <a:solidFill>
                  <a:srgbClr val="222222"/>
                </a:solidFill>
                <a:latin typeface="Arial"/>
              </a:rPr>
              <a:t>Certificates present Student Enrolment Roll No (ENR-108410E1) alongside masked APAAR ID (XXXXXXXX7890) and category quota status.</a:t>
            </a:r>
          </a:p>
          <a:p>
            <a:pPr>
              <a:spcBef>
                <a:spcPts val="300"/>
              </a:spcBef>
            </a:pPr>
            <a:r>
              <a:rPr sz="1050" b="1" dirty="0">
                <a:solidFill>
                  <a:srgbClr val="008C6E"/>
                </a:solidFill>
                <a:latin typeface="Arial"/>
              </a:rPr>
              <a:t>✓ Asymmetric Ed25519 QR Code: </a:t>
            </a:r>
            <a:r>
              <a:rPr sz="1050" dirty="0">
                <a:solidFill>
                  <a:srgbClr val="222222"/>
                </a:solidFill>
                <a:latin typeface="Arial"/>
              </a:rPr>
              <a:t>Embedded high-density QR code carries a digitally signed verification token; verifiers validate data integrity against AICTE public key offline.</a:t>
            </a:r>
          </a:p>
          <a:p>
            <a:pPr>
              <a:spcBef>
                <a:spcPts val="300"/>
              </a:spcBef>
            </a:pPr>
            <a:r>
              <a:rPr sz="1050" b="1" dirty="0">
                <a:solidFill>
                  <a:srgbClr val="008C6E"/>
                </a:solidFill>
                <a:latin typeface="Arial"/>
              </a:rPr>
              <a:t>✓ Integrity Boundary Clarification: </a:t>
            </a:r>
            <a:r>
              <a:rPr sz="1050" dirty="0">
                <a:solidFill>
                  <a:srgbClr val="222222"/>
                </a:solidFill>
                <a:latin typeface="Arial"/>
              </a:rPr>
              <a:t>Digital signature confirms platform-level record integrity and non-tampering; explicitly distinguished from official government identity confirmation.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691640" y="164592"/>
            <a:ext cx="8092440" cy="777240"/>
          </a:xfrm>
        </p:spPr>
        <p:txBody>
          <a:bodyPr wrap="square"/>
          <a:lstStyle/>
          <a:p>
            <a:pPr algn="l" eaLnBrk="1" hangingPunct="1">
              <a:defRPr sz="1650" b="1">
                <a:solidFill>
                  <a:srgbClr val="112266"/>
                </a:solidFill>
                <a:latin typeface="Arial"/>
              </a:defRPr>
            </a:pPr>
            <a:r>
              <a:t>RESEARCH, REFERENCES AND PROJECT RESOURCES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058400" y="6382512"/>
            <a:ext cx="1645920" cy="365760"/>
          </a:xfrm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1000" b="1">
                <a:solidFill>
                  <a:srgbClr val="FFFFFF"/>
                </a:solidFill>
                <a:latin typeface="Arial"/>
              </a:defRPr>
            </a:pPr>
            <a:r>
              <a:t>6</a:t>
            </a:r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2743200" y="6382512"/>
            <a:ext cx="6702552" cy="365760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000">
                <a:solidFill>
                  <a:srgbClr val="FFFFFF"/>
                </a:solidFill>
                <a:latin typeface="Arial"/>
              </a:defRPr>
            </a:pPr>
            <a:r>
              <a:rPr dirty="0"/>
              <a:t>@ </a:t>
            </a:r>
            <a:r>
              <a:rPr dirty="0" err="1"/>
              <a:t>TCE_Yquanto</a:t>
            </a:r>
            <a:r>
              <a:rPr dirty="0"/>
              <a:t> | Smart India Hackathon 2026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274320" y="182880"/>
            <a:ext cx="1371600" cy="685800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none" lIns="18288" rIns="18288" rtlCol="0" anchor="ctr"/>
          <a:lstStyle/>
          <a:p>
            <a:pPr algn="ctr">
              <a:defRPr sz="950" b="1">
                <a:solidFill>
                  <a:srgbClr val="112266"/>
                </a:solidFill>
                <a:latin typeface="Arial"/>
              </a:defRPr>
            </a:pPr>
            <a:r>
              <a:t>TCE_Yquanto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365760" y="1115568"/>
            <a:ext cx="5623560" cy="495604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11" name="Rounded Rectangle 17410"/>
          <p:cNvSpPr/>
          <p:nvPr/>
        </p:nvSpPr>
        <p:spPr>
          <a:xfrm>
            <a:off x="502920" y="1005840"/>
            <a:ext cx="5349240" cy="292608"/>
          </a:xfrm>
          <a:prstGeom prst="roundRect">
            <a:avLst/>
          </a:prstGeom>
          <a:solidFill>
            <a:srgbClr val="1122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73152" tIns="9144" rIns="73152" bIns="9144" rtlCol="0" anchor="ctr"/>
          <a:lstStyle/>
          <a:p>
            <a:pPr algn="ctr">
              <a:defRPr sz="950" b="1">
                <a:solidFill>
                  <a:srgbClr val="FFFFFF"/>
                </a:solidFill>
                <a:latin typeface="Arial"/>
              </a:defRPr>
            </a:pPr>
            <a:r>
              <a:t>AUTHORITATIVE STANDARDS &amp; REGULATORY CITATIONS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502920" y="1371600"/>
            <a:ext cx="5349240" cy="33085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</a:pPr>
            <a:r>
              <a:rPr sz="1200" b="1" dirty="0">
                <a:solidFill>
                  <a:srgbClr val="1A365D"/>
                </a:solidFill>
                <a:latin typeface="Arial"/>
              </a:rPr>
              <a:t>• AICTE Approval Process Handbook (APH 2026-27)</a:t>
            </a:r>
          </a:p>
          <a:p>
            <a:pPr>
              <a:spcBef>
                <a:spcPts val="200"/>
              </a:spcBef>
            </a:pPr>
            <a:r>
              <a:rPr sz="1200" dirty="0">
                <a:solidFill>
                  <a:srgbClr val="222222"/>
                </a:solidFill>
                <a:latin typeface="Arial"/>
              </a:rPr>
              <a:t>Statutory norms for approved institutional intake capacity, supernumerary seat limits (TFW, EWS, Kashmiri Migrants), and </a:t>
            </a:r>
            <a:r>
              <a:rPr sz="1200" dirty="0" err="1">
                <a:solidFill>
                  <a:srgbClr val="222222"/>
                </a:solidFill>
                <a:latin typeface="Arial"/>
              </a:rPr>
              <a:t>programme</a:t>
            </a:r>
            <a:r>
              <a:rPr sz="1200" dirty="0">
                <a:solidFill>
                  <a:srgbClr val="222222"/>
                </a:solidFill>
                <a:latin typeface="Arial"/>
              </a:rPr>
              <a:t> approval guidelines.</a:t>
            </a:r>
          </a:p>
          <a:p>
            <a:pPr>
              <a:spcBef>
                <a:spcPts val="800"/>
              </a:spcBef>
            </a:pPr>
            <a:r>
              <a:rPr sz="1200" b="1" dirty="0">
                <a:solidFill>
                  <a:srgbClr val="1A365D"/>
                </a:solidFill>
                <a:latin typeface="Arial"/>
              </a:rPr>
              <a:t>• National Education Policy (NEP 2020) &amp; APAAR / ABC</a:t>
            </a:r>
          </a:p>
          <a:p>
            <a:pPr>
              <a:spcBef>
                <a:spcPts val="200"/>
              </a:spcBef>
            </a:pPr>
            <a:r>
              <a:rPr sz="1200" dirty="0">
                <a:solidFill>
                  <a:srgbClr val="222222"/>
                </a:solidFill>
                <a:latin typeface="Arial"/>
              </a:rPr>
              <a:t>Government policy framework establishing the 12-digit Automated Permanent Academic Account Registry as the lifelong national academic identifier.</a:t>
            </a:r>
          </a:p>
          <a:p>
            <a:pPr>
              <a:spcBef>
                <a:spcPts val="800"/>
              </a:spcBef>
            </a:pPr>
            <a:r>
              <a:rPr sz="1200" b="1" dirty="0">
                <a:solidFill>
                  <a:srgbClr val="1A365D"/>
                </a:solidFill>
                <a:latin typeface="Arial"/>
              </a:rPr>
              <a:t>• Digital Personal Data Protection Act (DPDP Act 2023)</a:t>
            </a:r>
          </a:p>
          <a:p>
            <a:pPr>
              <a:spcBef>
                <a:spcPts val="200"/>
              </a:spcBef>
            </a:pPr>
            <a:r>
              <a:rPr sz="1200" dirty="0">
                <a:solidFill>
                  <a:srgbClr val="222222"/>
                </a:solidFill>
                <a:latin typeface="Arial"/>
              </a:rPr>
              <a:t>Data fiduciary compliance, purpose limitation, identifier pseudonymization, dynamic masking, and student consent management frameworks.</a:t>
            </a:r>
          </a:p>
          <a:p>
            <a:pPr>
              <a:spcBef>
                <a:spcPts val="800"/>
              </a:spcBef>
            </a:pPr>
            <a:r>
              <a:rPr sz="1200" b="1" dirty="0">
                <a:solidFill>
                  <a:srgbClr val="1A365D"/>
                </a:solidFill>
                <a:latin typeface="Arial"/>
              </a:rPr>
              <a:t>• IETF RFC 8032: Ed25519 Cryptography</a:t>
            </a:r>
          </a:p>
          <a:p>
            <a:pPr>
              <a:spcBef>
                <a:spcPts val="200"/>
              </a:spcBef>
            </a:pPr>
            <a:r>
              <a:rPr sz="1200" dirty="0">
                <a:solidFill>
                  <a:srgbClr val="222222"/>
                </a:solidFill>
                <a:latin typeface="Arial"/>
              </a:rPr>
              <a:t>Specification for Edwards-Curve Digital Signature Algorithm (Curve25519) providing mathematical non-repudiation and instant receipt verification.</a:t>
            </a:r>
          </a:p>
          <a:p>
            <a:pPr>
              <a:spcBef>
                <a:spcPts val="800"/>
              </a:spcBef>
            </a:pPr>
            <a:r>
              <a:rPr sz="1200" b="1" dirty="0">
                <a:solidFill>
                  <a:srgbClr val="1A365D"/>
                </a:solidFill>
                <a:latin typeface="Arial"/>
              </a:rPr>
              <a:t>• NIST SP 800-107: Recommendation for Secure Hashing</a:t>
            </a:r>
          </a:p>
          <a:p>
            <a:pPr>
              <a:spcBef>
                <a:spcPts val="200"/>
              </a:spcBef>
            </a:pPr>
            <a:r>
              <a:rPr sz="1200" dirty="0">
                <a:solidFill>
                  <a:srgbClr val="222222"/>
                </a:solidFill>
                <a:latin typeface="Arial"/>
              </a:rPr>
              <a:t>Cryptographic guidelines for sequential SHA-256 hash chaining utilized in the tamper-evident regulatory audit trail.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6172200" y="1115568"/>
            <a:ext cx="5623560" cy="2377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14" name="Rounded Rectangle 17413"/>
          <p:cNvSpPr/>
          <p:nvPr/>
        </p:nvSpPr>
        <p:spPr>
          <a:xfrm>
            <a:off x="6309360" y="1005840"/>
            <a:ext cx="5349240" cy="274320"/>
          </a:xfrm>
          <a:prstGeom prst="roundRect">
            <a:avLst/>
          </a:prstGeom>
          <a:solidFill>
            <a:srgbClr val="008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73152" tIns="9144" rIns="73152" bIns="9144" rtlCol="0" anchor="ctr"/>
          <a:lstStyle/>
          <a:p>
            <a:pPr algn="ctr">
              <a:defRPr sz="950" b="1">
                <a:solidFill>
                  <a:srgbClr val="FFFFFF"/>
                </a:solidFill>
                <a:latin typeface="Arial"/>
              </a:defRPr>
            </a:pPr>
            <a:r>
              <a:t>SCOPE DIFFERENTIATION (PRIOR ART VS PRAMAAN-AICTE)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6309360" y="1353312"/>
            <a:ext cx="5349240" cy="181588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</a:pPr>
            <a:r>
              <a:rPr sz="1200" b="1" dirty="0">
                <a:solidFill>
                  <a:srgbClr val="112266"/>
                </a:solidFill>
                <a:latin typeface="Arial"/>
              </a:rPr>
              <a:t>• Validation Scope: </a:t>
            </a:r>
            <a:r>
              <a:rPr sz="1200" dirty="0">
                <a:solidFill>
                  <a:srgbClr val="222222"/>
                </a:solidFill>
                <a:latin typeface="Arial"/>
              </a:rPr>
              <a:t>Generic uploads check syntax only. PRAMAAN performs 3-way reconciliation (Declarations × Uploads × Sanctioned Capacity).</a:t>
            </a:r>
          </a:p>
          <a:p>
            <a:pPr>
              <a:spcBef>
                <a:spcPts val="350"/>
              </a:spcBef>
            </a:pPr>
            <a:r>
              <a:rPr sz="1200" b="1" dirty="0">
                <a:solidFill>
                  <a:srgbClr val="112266"/>
                </a:solidFill>
                <a:latin typeface="Arial"/>
              </a:rPr>
              <a:t>• Reference Data: </a:t>
            </a:r>
            <a:r>
              <a:rPr sz="1200" dirty="0">
                <a:solidFill>
                  <a:srgbClr val="222222"/>
                </a:solidFill>
                <a:latin typeface="Arial"/>
              </a:rPr>
              <a:t>Traditional workflows rely on static assumptions. PRAMAAN integrates dynamic database references with revalidation.</a:t>
            </a:r>
          </a:p>
          <a:p>
            <a:pPr>
              <a:spcBef>
                <a:spcPts val="350"/>
              </a:spcBef>
            </a:pPr>
            <a:r>
              <a:rPr sz="1200" b="1" dirty="0">
                <a:solidFill>
                  <a:srgbClr val="112266"/>
                </a:solidFill>
                <a:latin typeface="Arial"/>
              </a:rPr>
              <a:t>• Finding Resolution: </a:t>
            </a:r>
            <a:r>
              <a:rPr sz="1200" dirty="0">
                <a:solidFill>
                  <a:srgbClr val="222222"/>
                </a:solidFill>
                <a:latin typeface="Arial"/>
              </a:rPr>
              <a:t>Standard systems use opaque batch rejections. PRAMAAN provides row-level explainable findings and an editable quarantine sandbox.</a:t>
            </a:r>
          </a:p>
          <a:p>
            <a:pPr>
              <a:spcBef>
                <a:spcPts val="350"/>
              </a:spcBef>
            </a:pPr>
            <a:r>
              <a:rPr sz="1200" b="1" dirty="0">
                <a:solidFill>
                  <a:srgbClr val="112266"/>
                </a:solidFill>
                <a:latin typeface="Arial"/>
              </a:rPr>
              <a:t>• Verification Output: </a:t>
            </a:r>
            <a:r>
              <a:rPr sz="1200" dirty="0">
                <a:solidFill>
                  <a:srgbClr val="222222"/>
                </a:solidFill>
                <a:latin typeface="Arial"/>
              </a:rPr>
              <a:t>Conventional portals yield unverified spreadsheets. PRAMAAN produces Ed25519-signed verification receipts and QR proofs.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6172200" y="3611880"/>
            <a:ext cx="5623560" cy="245973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17" name="Rounded Rectangle 17416"/>
          <p:cNvSpPr/>
          <p:nvPr/>
        </p:nvSpPr>
        <p:spPr>
          <a:xfrm>
            <a:off x="6309360" y="3493008"/>
            <a:ext cx="5349240" cy="274320"/>
          </a:xfrm>
          <a:prstGeom prst="round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73152" tIns="9144" rIns="73152" bIns="9144" rtlCol="0" anchor="ctr"/>
          <a:lstStyle/>
          <a:p>
            <a:pPr algn="ctr">
              <a:defRPr sz="950" b="1">
                <a:solidFill>
                  <a:srgbClr val="FFFFFF"/>
                </a:solidFill>
                <a:latin typeface="Arial"/>
              </a:defRPr>
            </a:pPr>
            <a:r>
              <a:t>VERIFIED PROJECT RESOURCES &amp; ENVIRONMENT STATUS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6309360" y="3840480"/>
            <a:ext cx="5349240" cy="2148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</a:pPr>
            <a:r>
              <a:rPr sz="1100" b="1" dirty="0">
                <a:solidFill>
                  <a:srgbClr val="008C6E"/>
                </a:solidFill>
                <a:latin typeface="Arial"/>
              </a:rPr>
              <a:t>✓ Open-Source GitHub Repository: </a:t>
            </a:r>
            <a:r>
              <a:rPr sz="1100" dirty="0">
                <a:solidFill>
                  <a:srgbClr val="222222"/>
                </a:solidFill>
                <a:latin typeface="Arial"/>
              </a:rPr>
              <a:t>https://github.com/naveeshpcbin/APAAR-ID-BASED-SYSTEM
(Complete source code, 20 application models, Alembic migrations, test suites)</a:t>
            </a:r>
          </a:p>
          <a:p>
            <a:pPr>
              <a:spcBef>
                <a:spcPts val="350"/>
              </a:spcBef>
            </a:pPr>
            <a:r>
              <a:rPr sz="1100" b="1" dirty="0">
                <a:solidFill>
                  <a:srgbClr val="008C6E"/>
                </a:solidFill>
                <a:latin typeface="Arial"/>
              </a:rPr>
              <a:t>✓ Interactive Backend API Docs: </a:t>
            </a:r>
            <a:r>
              <a:rPr sz="1100" dirty="0" err="1">
                <a:solidFill>
                  <a:srgbClr val="222222"/>
                </a:solidFill>
                <a:latin typeface="Arial"/>
              </a:rPr>
              <a:t>FastAPI</a:t>
            </a:r>
            <a:r>
              <a:rPr sz="1100" dirty="0">
                <a:solidFill>
                  <a:srgbClr val="222222"/>
                </a:solidFill>
                <a:latin typeface="Arial"/>
              </a:rPr>
              <a:t> </a:t>
            </a:r>
            <a:r>
              <a:rPr sz="1100" dirty="0" err="1">
                <a:solidFill>
                  <a:srgbClr val="222222"/>
                </a:solidFill>
                <a:latin typeface="Arial"/>
              </a:rPr>
              <a:t>OpenAPI</a:t>
            </a:r>
            <a:r>
              <a:rPr sz="1100" dirty="0">
                <a:solidFill>
                  <a:srgbClr val="222222"/>
                </a:solidFill>
                <a:latin typeface="Arial"/>
              </a:rPr>
              <a:t> 3.1 documentation available at `/docs` (73 endpoints registered across 67 paths).</a:t>
            </a:r>
          </a:p>
          <a:p>
            <a:pPr>
              <a:spcBef>
                <a:spcPts val="350"/>
              </a:spcBef>
            </a:pPr>
            <a:r>
              <a:rPr sz="1100" b="1" dirty="0">
                <a:solidFill>
                  <a:srgbClr val="008C6E"/>
                </a:solidFill>
                <a:latin typeface="Arial"/>
              </a:rPr>
              <a:t>✓ Automated Test Verification: </a:t>
            </a:r>
            <a:r>
              <a:rPr sz="1100" dirty="0">
                <a:solidFill>
                  <a:srgbClr val="222222"/>
                </a:solidFill>
                <a:latin typeface="Arial"/>
              </a:rPr>
              <a:t>64/64 </a:t>
            </a:r>
            <a:r>
              <a:rPr sz="1100" dirty="0" err="1">
                <a:solidFill>
                  <a:srgbClr val="222222"/>
                </a:solidFill>
                <a:latin typeface="Arial"/>
              </a:rPr>
              <a:t>pytest</a:t>
            </a:r>
            <a:r>
              <a:rPr sz="1100" dirty="0">
                <a:solidFill>
                  <a:srgbClr val="222222"/>
                </a:solidFill>
                <a:latin typeface="Arial"/>
              </a:rPr>
              <a:t> automated tests passing locally across 14 test suites covering all core workflows.</a:t>
            </a:r>
          </a:p>
          <a:p>
            <a:pPr>
              <a:spcBef>
                <a:spcPts val="350"/>
              </a:spcBef>
            </a:pPr>
            <a:r>
              <a:rPr sz="1100" b="1" dirty="0">
                <a:solidFill>
                  <a:srgbClr val="008C6E"/>
                </a:solidFill>
                <a:latin typeface="Arial"/>
              </a:rPr>
              <a:t>✓ System Integration Status: </a:t>
            </a:r>
            <a:r>
              <a:rPr sz="1100" dirty="0">
                <a:solidFill>
                  <a:srgbClr val="222222"/>
                </a:solidFill>
                <a:latin typeface="Arial"/>
              </a:rPr>
              <a:t>• External APAAR / </a:t>
            </a:r>
            <a:r>
              <a:rPr sz="1100" dirty="0" err="1">
                <a:solidFill>
                  <a:srgbClr val="222222"/>
                </a:solidFill>
                <a:latin typeface="Arial"/>
              </a:rPr>
              <a:t>DigiLocker</a:t>
            </a:r>
            <a:r>
              <a:rPr sz="1100" dirty="0">
                <a:solidFill>
                  <a:srgbClr val="222222"/>
                </a:solidFill>
                <a:latin typeface="Arial"/>
              </a:rPr>
              <a:t> / ABC API: SIMULATED (Synthetic reference dataset).
• Cloud Render Deployment: PENDING RESOLUTION (Host DNS configuration in Render container).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7527</TotalTime>
  <Words>1743</Words>
  <Application>Microsoft Office PowerPoint</Application>
  <PresentationFormat>Widescreen</PresentationFormat>
  <Paragraphs>126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ＭＳ Ｐゴシック</vt:lpstr>
      <vt:lpstr>Arial</vt:lpstr>
      <vt:lpstr>Calibri</vt:lpstr>
      <vt:lpstr>Garamond</vt:lpstr>
      <vt:lpstr>TradeGothic</vt:lpstr>
      <vt:lpstr>Office Theme</vt:lpstr>
      <vt:lpstr>SMART INDIA HACKATHON 2026</vt:lpstr>
      <vt:lpstr>PROPOSED SOLUTION: THE PRAMAAN-AICTE RECONCILIATION SYSTEM</vt:lpstr>
      <vt:lpstr>TECHNICAL APPROACH AND SYSTEM ARCHITECTURE</vt:lpstr>
      <vt:lpstr>FEASIBILITY, VIABILITY AND RISK MITIGATION</vt:lpstr>
      <vt:lpstr>MULTI-STAKEHOLDER IMPACT &amp; DEGREE VERIFICATION</vt:lpstr>
      <vt:lpstr>RESEARCH, REFERENCES AND PROJECT RESOURCES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NAVEESH P</cp:lastModifiedBy>
  <cp:revision>159</cp:revision>
  <dcterms:created xsi:type="dcterms:W3CDTF">2013-12-12T18:46:50Z</dcterms:created>
  <dcterms:modified xsi:type="dcterms:W3CDTF">2026-10-28T18:24:30Z</dcterms:modified>
  <cp:category/>
</cp:coreProperties>
</file>