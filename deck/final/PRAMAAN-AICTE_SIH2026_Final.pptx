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5760" y="868680"/>
            <a:ext cx="5943600" cy="365760"/>
          </a:xfrm>
        </p:spPr>
        <p:txBody>
          <a:bodyPr wrap="square"/>
          <a:lstStyle/>
          <a:p>
            <a:pPr algn="l">
              <a:defRPr sz="1400" b="1">
                <a:solidFill>
                  <a:srgbClr val="008C6E"/>
                </a:solidFill>
                <a:latin typeface="Arial"/>
              </a:defRPr>
            </a:pPr>
            <a: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182880"/>
            <a:ext cx="9326880" cy="822960"/>
          </a:xfrm>
        </p:spPr>
        <p:txBody>
          <a:bodyPr wrap="square"/>
          <a:lstStyle/>
          <a:p>
            <a:pPr algn="l">
              <a:defRPr sz="2800" b="1">
                <a:solidFill>
                  <a:srgbClr val="112266"/>
                </a:solidFill>
                <a:latin typeface="Arial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6217920" cy="4800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Problem Statement ID: </a:t>
            </a:r>
            <a:r>
              <a:rPr sz="1300" b="1">
                <a:solidFill>
                  <a:srgbClr val="112266"/>
                </a:solidFill>
                <a:latin typeface="Arial"/>
              </a:rPr>
              <a:t>SIH26263</a:t>
            </a:r>
            <a:endParaRPr lang="en-US" dirty="0"/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Problem Statement Title: </a:t>
            </a:r>
            <a:r>
              <a:rPr sz="1100" b="0">
                <a:solidFill>
                  <a:srgbClr val="1A365D"/>
                </a:solidFill>
                <a:latin typeface="Arial"/>
              </a:rPr>
              <a:t>Development of an APAAR ID-Based Student Data Management and Verification Platform for AICTE-Approved Institutions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Theme: </a:t>
            </a:r>
            <a:r>
              <a:rPr sz="1100" b="0">
                <a:solidFill>
                  <a:srgbClr val="222222"/>
                </a:solidFill>
                <a:latin typeface="Arial"/>
              </a:rPr>
              <a:t>Smart Automation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PS Category: </a:t>
            </a:r>
            <a:r>
              <a:rPr sz="1100" b="0">
                <a:solidFill>
                  <a:srgbClr val="222222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Team ID: </a:t>
            </a:r>
            <a:r>
              <a:rPr sz="1100" b="0">
                <a:solidFill>
                  <a:srgbClr val="222222"/>
                </a:solidFill>
                <a:latin typeface="Arial"/>
              </a:rPr>
              <a:t>TCE_Yquanto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Team Name: </a:t>
            </a:r>
            <a:r>
              <a:rPr sz="1150" b="1">
                <a:solidFill>
                  <a:srgbClr val="112266"/>
                </a:solidFill>
                <a:latin typeface="Arial"/>
              </a:rPr>
              <a:t>TCE_Yquanto (Thiagarajar College of Engineering, Madurai)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Institute Name: </a:t>
            </a:r>
            <a:r>
              <a:rPr sz="1100" b="0">
                <a:solidFill>
                  <a:srgbClr val="1A365D"/>
                </a:solidFill>
                <a:latin typeface="Arial"/>
              </a:rPr>
              <a:t>Thiagarajar College of Engineering, Madurai, Tamil Nadu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Live Web Platform: </a:t>
            </a:r>
            <a:r>
              <a:rPr sz="1050" b="1">
                <a:solidFill>
                  <a:srgbClr val="008C6E"/>
                </a:solidFill>
                <a:latin typeface="Arial"/>
              </a:rPr>
              <a:t>https://brainforge.info  |  https://pramaan.brainforge.info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Live Backend &amp; API: </a:t>
            </a:r>
            <a:r>
              <a:rPr sz="1050" b="1">
                <a:solidFill>
                  <a:srgbClr val="008C6E"/>
                </a:solidFill>
                <a:latin typeface="Arial"/>
              </a:rPr>
              <a:t>https://apaar-id-based-system.onrender.com/docs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Source Repository: </a:t>
            </a:r>
            <a:r>
              <a:rPr sz="1050" b="1">
                <a:solidFill>
                  <a:srgbClr val="1A56DB"/>
                </a:solidFill>
                <a:latin typeface="Arial"/>
              </a:rPr>
              <a:t>https://github.com/naveeshpcbin/APAAR-ID-BASED-SYSTEM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Verification Status: </a:t>
            </a:r>
            <a:r>
              <a:rPr sz="1050" b="1">
                <a:solidFill>
                  <a:srgbClr val="008C6E"/>
                </a:solidFill>
                <a:latin typeface="Arial"/>
              </a:rPr>
              <a:t>66/66 Passing Tests | 20 Tables with RLS | Live Cloud Verified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6382512"/>
            <a:ext cx="6702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38251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PROPOSED SOLUTION: THE PRAMAAN-AICTE RECONCILIATION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1115568"/>
            <a:ext cx="5623560" cy="13898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475488" y="1005840"/>
            <a:ext cx="5404104" cy="2743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1. REGULATORY CHALLENGE ADDRESSED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75488" y="1298448"/>
            <a:ext cx="5404104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- Fragmented Institutional Data: </a:t>
            </a:r>
            <a:r>
              <a:rPr sz="800">
                <a:solidFill>
                  <a:srgbClr val="222222"/>
                </a:solidFill>
                <a:latin typeface="Arial"/>
              </a:rPr>
              <a:t>Divergent college ERP spreadsheet schemas, non-standard column headers, and unverified declarations.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- Reconciliation Bottlenecks: </a:t>
            </a:r>
            <a:r>
              <a:rPr sz="800">
                <a:solidFill>
                  <a:srgbClr val="222222"/>
                </a:solidFill>
                <a:latin typeface="Arial"/>
              </a:rPr>
              <a:t>Difficulties cross-verifying declared enrolments against actual student records and AICTE approval ceilings.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- Intake &amp; Duplicate Risks: </a:t>
            </a:r>
            <a:r>
              <a:rPr sz="800">
                <a:solidFill>
                  <a:srgbClr val="222222"/>
                </a:solidFill>
                <a:latin typeface="Arial"/>
              </a:rPr>
              <a:t>Lack of automated visibility into over-intake breaches, quota diversion, and concurrent multi-college claims.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2633472"/>
            <a:ext cx="562356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475488" y="2523744"/>
            <a:ext cx="5404104" cy="274320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2. WHAT PRAMAAN-AICTE IMPLEMENTS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75488" y="2816352"/>
            <a:ext cx="5404104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- Decoupled Institutional Portals: </a:t>
            </a:r>
            <a:r>
              <a:rPr sz="800">
                <a:solidFill>
                  <a:srgbClr val="222222"/>
                </a:solidFill>
                <a:latin typeface="Arial"/>
              </a:rPr>
              <a:t>Role-separated desks for College submission and Central AICTE regulatory governance.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- Automated Ingestion Desk: </a:t>
            </a:r>
            <a:r>
              <a:rPr sz="800">
                <a:solidFill>
                  <a:srgbClr val="222222"/>
                </a:solidFill>
                <a:latin typeface="Arial"/>
              </a:rPr>
              <a:t>CSV/Excel file parsing with resilient column alias mapping into standard staging rows.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- Deterministic 3-Way Reconciliation: </a:t>
            </a:r>
            <a:r>
              <a:rPr sz="800">
                <a:solidFill>
                  <a:srgbClr val="222222"/>
                </a:solidFill>
                <a:latin typeface="Arial"/>
              </a:rPr>
              <a:t>Pure Python comparison engine cross-checking declarations, staged student records, and approved capacity.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- Persisted Validation Runs: </a:t>
            </a:r>
            <a:r>
              <a:rPr sz="800">
                <a:solidFill>
                  <a:srgbClr val="222222"/>
                </a:solidFill>
                <a:latin typeface="Arial"/>
              </a:rPr>
              <a:t>Stores row-level findings with precise classification: approved, quota breach, syntax error, or duplicate.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65760" y="4206240"/>
            <a:ext cx="56235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475488" y="4096512"/>
            <a:ext cx="5404104" cy="274320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3. KEY WORKFLOW &amp; GOVERNANCE VALUE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75488" y="4389120"/>
            <a:ext cx="5404104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- Explainable Row-Level Findings: </a:t>
            </a:r>
            <a:r>
              <a:rPr sz="800">
                <a:solidFill>
                  <a:srgbClr val="222222"/>
                </a:solidFill>
                <a:latin typeface="Arial"/>
              </a:rPr>
              <a:t>Direct, transparent feedback explaining specific discrepancy causes without opaque batch rejection.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- Quarantine &amp; Resubmission: </a:t>
            </a:r>
            <a:r>
              <a:rPr sz="800">
                <a:solidFill>
                  <a:srgbClr val="222222"/>
                </a:solidFill>
                <a:latin typeface="Arial"/>
              </a:rPr>
              <a:t>Interactive in-browser quarantine sandbox allowing institutions to correct data before council commit.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- Controlled Central Decisions: </a:t>
            </a:r>
            <a:r>
              <a:rPr sz="800">
                <a:solidFill>
                  <a:srgbClr val="222222"/>
                </a:solidFill>
                <a:latin typeface="Arial"/>
              </a:rPr>
              <a:t>Council review workflow supporting formal decisions: approve, return for correction, or reject.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- Audit Traceability: </a:t>
            </a:r>
            <a:r>
              <a:rPr sz="800">
                <a:solidFill>
                  <a:srgbClr val="222222"/>
                </a:solidFill>
                <a:latin typeface="Arial"/>
              </a:rPr>
              <a:t>Complete validation run history and append-only sequential SHA-256 audit chaining across actions.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172200" y="1115568"/>
            <a:ext cx="5623560" cy="4507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6309360" y="1005840"/>
            <a:ext cx="5349240" cy="274320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AICTE CENTRAL APEX COMMAND &amp; RECONCILIATION DASHBOARD</a:t>
            </a:r>
          </a:p>
        </p:txBody>
      </p:sp>
      <p:pic>
        <p:nvPicPr>
          <p:cNvPr id="15373" name="Picture 15372" descr="slide_2_Pictur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353312"/>
            <a:ext cx="5404104" cy="2926080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6281928" y="4343400"/>
            <a:ext cx="54041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- Central Intake Intelligence: </a:t>
            </a:r>
            <a:r>
              <a:rPr sz="780">
                <a:solidFill>
                  <a:srgbClr val="222222"/>
                </a:solidFill>
                <a:latin typeface="Arial"/>
              </a:rPr>
              <a:t>Live monitoring of sanctioned intake vs enrolled students across B.Tech, MCA, and Diploma.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- Deterministic Review Desk: </a:t>
            </a:r>
            <a:r>
              <a:rPr sz="780">
                <a:solidFill>
                  <a:srgbClr val="222222"/>
                </a:solidFill>
                <a:latin typeface="Arial"/>
              </a:rPr>
              <a:t>Instant identification of seat limit breaches, unverified candidates, and duplicate claims.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- Multi-Tenant Governance: </a:t>
            </a:r>
            <a:r>
              <a:rPr sz="780">
                <a:solidFill>
                  <a:srgbClr val="222222"/>
                </a:solidFill>
                <a:latin typeface="Arial"/>
              </a:rPr>
              <a:t>Seamless institutional isolation between AICTE Central Regulators, DTU Delhi, and COEP Pune.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65760" y="5760720"/>
            <a:ext cx="269748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8C6E"/>
                </a:solidFill>
                <a:latin typeface="Arial"/>
              </a:defRPr>
            </a:pPr>
            <a:r>
              <a:t>Deterministic Python Core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246120" y="5760720"/>
            <a:ext cx="269748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1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12266"/>
                </a:solidFill>
                <a:latin typeface="Arial"/>
              </a:defRPr>
            </a:pPr>
            <a:r>
              <a:t>3-Way Cross-Reconciliation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172200" y="5760720"/>
            <a:ext cx="269748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A365D"/>
                </a:solidFill>
                <a:latin typeface="Arial"/>
              </a:defRPr>
            </a:pPr>
            <a:r>
              <a:t>Cryptographic Verification &amp; Audit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9098280" y="5760720"/>
            <a:ext cx="269748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8C6E"/>
                </a:solidFill>
                <a:latin typeface="Arial"/>
              </a:defRPr>
            </a:pPr>
            <a:r>
              <a:t>66/66 Verified Passing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TECHNICAL APPROACH AND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623560" cy="4956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005840"/>
            <a:ext cx="5349240" cy="292608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5-STAGE RECONCILIATION &amp; GOVERNANCE PIPELINE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371600"/>
            <a:ext cx="53492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1426464"/>
            <a:ext cx="52212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80" b="1">
                <a:solidFill>
                  <a:srgbClr val="1A365D"/>
                </a:solidFill>
                <a:latin typeface="Arial"/>
              </a:rPr>
              <a:t>STAGE 1: Resilient File Ingestion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222222"/>
                </a:solidFill>
                <a:latin typeface="Arial"/>
              </a:rPr>
              <a:t>Upload institutional CSV/Excel files; dynamic column alias matching auto-normalizes divergent schemas into standardized staging records.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2331720"/>
            <a:ext cx="53492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66928" y="2386584"/>
            <a:ext cx="52212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80" b="1">
                <a:solidFill>
                  <a:srgbClr val="1A365D"/>
                </a:solidFill>
                <a:latin typeface="Arial"/>
              </a:rPr>
              <a:t>STAGE 2: Pure Python Validation Engine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222222"/>
                </a:solidFill>
                <a:latin typeface="Arial"/>
              </a:rPr>
              <a:t>Deterministic rule engine parses syntax, detects in-batch duplicates, verifies 12-digit APAAR format, and runs cross-field consistency checks.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3291840"/>
            <a:ext cx="53492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566928" y="3346704"/>
            <a:ext cx="52212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80" b="1">
                <a:solidFill>
                  <a:srgbClr val="1A365D"/>
                </a:solidFill>
                <a:latin typeface="Arial"/>
              </a:rPr>
              <a:t>STAGE 3: 3-Way Dynamic Reconciliation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222222"/>
                </a:solidFill>
                <a:latin typeface="Arial"/>
              </a:rPr>
              <a:t>Cross-compares declared student counts against verified stage records and sanctioned intake quotas from dynamic reference tables.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4251960"/>
            <a:ext cx="53492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66928" y="4306824"/>
            <a:ext cx="52212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80" b="1">
                <a:solidFill>
                  <a:srgbClr val="1A365D"/>
                </a:solidFill>
                <a:latin typeface="Arial"/>
              </a:rPr>
              <a:t>STAGE 4: Council Review &amp; Audit Ledger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222222"/>
                </a:solidFill>
                <a:latin typeface="Arial"/>
              </a:rPr>
              <a:t>Central officers review row-level discrepancy findings; make formal Approve/Return decisions; actions chained into append-only SHA-256 audit ledger.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5212080"/>
            <a:ext cx="534924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66928" y="5266944"/>
            <a:ext cx="52212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80" b="1">
                <a:solidFill>
                  <a:srgbClr val="1A365D"/>
                </a:solidFill>
                <a:latin typeface="Arial"/>
              </a:rPr>
              <a:t>STAGE 5: Cryptographic Verification Receipt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222222"/>
                </a:solidFill>
                <a:latin typeface="Arial"/>
              </a:rPr>
              <a:t>Approved student records receive an asymmetric Ed25519 digital signature and portable verification receipt with offline verifiable QR code.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72200" y="1115568"/>
            <a:ext cx="5623560" cy="206654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309360" y="1005840"/>
            <a:ext cx="5349240" cy="2743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VERIFIED 4-LAYER SYSTEM ARCHITECTURE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09360" y="1353312"/>
            <a:ext cx="5349240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80" b="1">
                <a:solidFill>
                  <a:srgbClr val="112266"/>
                </a:solidFill>
                <a:latin typeface="Arial"/>
              </a:rPr>
              <a:t>- Presentation Layer: </a:t>
            </a:r>
            <a:r>
              <a:rPr sz="810">
                <a:solidFill>
                  <a:srgbClr val="222222"/>
                </a:solidFill>
                <a:latin typeface="Arial"/>
              </a:rPr>
              <a:t>Next.js 14 (App Router), TypeScript, Tailwind CSS, Recharts for analytics; deployed on Vercel Edge.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112266"/>
                </a:solidFill>
                <a:latin typeface="Arial"/>
              </a:rPr>
              <a:t>- Application &amp; API: </a:t>
            </a:r>
            <a:r>
              <a:rPr sz="810">
                <a:solidFill>
                  <a:srgbClr val="222222"/>
                </a:solidFill>
                <a:latin typeface="Arial"/>
              </a:rPr>
              <a:t>FastAPI (Modular Monolith), Python 3.10+, Pydantic v2, Uvicorn, 73 endpoints; deployed on Render Cloud.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112266"/>
                </a:solidFill>
                <a:latin typeface="Arial"/>
              </a:rPr>
              <a:t>- Persistence &amp; Schemas: </a:t>
            </a:r>
            <a:r>
              <a:rPr sz="810">
                <a:solidFill>
                  <a:srgbClr val="222222"/>
                </a:solidFill>
                <a:latin typeface="Arial"/>
              </a:rPr>
              <a:t>SQLAlchemy ORM, Supabase PostgreSQL 17.11 (20 tables with RLS enabled) / SQLite WAL mode.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112266"/>
                </a:solidFill>
                <a:latin typeface="Arial"/>
              </a:rPr>
              <a:t>- Cryptography &amp; Security: </a:t>
            </a:r>
            <a:r>
              <a:rPr sz="810">
                <a:solidFill>
                  <a:srgbClr val="222222"/>
                </a:solidFill>
                <a:latin typeface="Arial"/>
              </a:rPr>
              <a:t>Ed25519 (RFC 8032 signing), Keyed HMAC-SHA256, sequential SHA-256 audit chaining.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72200" y="3291840"/>
            <a:ext cx="5623560" cy="2779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309360" y="3182112"/>
            <a:ext cx="5349240" cy="274320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EVIDENCE: SMART INGESTION DESK</a:t>
            </a:r>
          </a:p>
        </p:txBody>
      </p:sp>
      <p:pic>
        <p:nvPicPr>
          <p:cNvPr id="17427" name="Picture 17426" descr="slide_3_Pictur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493008"/>
            <a:ext cx="5404104" cy="1965960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6281928" y="5532120"/>
            <a:ext cx="5404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>
                <a:solidFill>
                  <a:srgbClr val="64748B"/>
                </a:solidFill>
                <a:latin typeface="Arial"/>
              </a:defRPr>
            </a:pPr>
            <a:r>
              <a:t>Smart Ingestion Desk: Automated schema mapping, pre-flight validation status, row findings ledger, and atomic batch commitment.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FEASIBILITY, VIABILITY AND RISK MITIGATION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623560" cy="4956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005840"/>
            <a:ext cx="5349240" cy="292608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IMPLEMENTATION FEASIBILITY &amp; VERIFIED MATURITY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Architectural Feasibility: </a:t>
            </a:r>
            <a:r>
              <a:rPr sz="830">
                <a:solidFill>
                  <a:srgbClr val="222222"/>
                </a:solidFill>
                <a:latin typeface="Arial"/>
              </a:rPr>
              <a:t>Zero-install web architecture. Standard modern browser access across Windows, Linux, and macOS. Decoupled Next.js client and FastAPI modular backend.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Verified Test Suite (66/66 Passing): </a:t>
            </a:r>
            <a:r>
              <a:rPr sz="830">
                <a:solidFill>
                  <a:srgbClr val="222222"/>
                </a:solidFill>
                <a:latin typeface="Arial"/>
              </a:rPr>
              <a:t>Exhaustive automated verification across 14 test suites covering authentication, institution onboarding, batch upload, deterministic reconciliation, security, and reference data.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Deterministic Logic Integrity: </a:t>
            </a:r>
            <a:r>
              <a:rPr sz="830">
                <a:solidFill>
                  <a:srgbClr val="222222"/>
                </a:solidFill>
                <a:latin typeface="Arial"/>
              </a:rPr>
              <a:t>Reconciliation logic is pure, explainable Python with explicit rule sets for sanctioned intake and supernumerary quotas; avoids opaque or non-deterministic AI decisions.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Synthetic Data Testing Engine: </a:t>
            </a:r>
            <a:r>
              <a:rPr sz="830">
                <a:solidFill>
                  <a:srgbClr val="222222"/>
                </a:solidFill>
                <a:latin typeface="Arial"/>
              </a:rPr>
              <a:t>Database-backed synthetic APAAR identities and editable approval/declaration models enable comprehensive pre-deployment stress testing and repeatable verification.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Dual-Dialect Database Support: </a:t>
            </a:r>
            <a:r>
              <a:rPr sz="830">
                <a:solidFill>
                  <a:srgbClr val="222222"/>
                </a:solidFill>
                <a:latin typeface="Arial"/>
              </a:rPr>
              <a:t>SQLAlchemy ORM architecture with dynamic driver fallback (psycopg3/psycopg2) verified on local SQLite WAL mode and Supabase PostgreSQL 17.11 (20 tables, RLS active).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Live Production Cloud Verification: </a:t>
            </a:r>
            <a:r>
              <a:rPr sz="830">
                <a:solidFill>
                  <a:srgbClr val="222222"/>
                </a:solidFill>
                <a:latin typeface="Arial"/>
              </a:rPr>
              <a:t>Full cloud deployment verified live: FastAPI backend on Render with PostgreSQL connection, Next.js frontend on Vercel with custom domain brainforge.info, and 100% end-to-end integration pass.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115568"/>
            <a:ext cx="5623560" cy="206654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309360" y="1005840"/>
            <a:ext cx="5349240" cy="274320"/>
          </a:xfrm>
          <a:prstGeom prst="round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GOVERNANCE RISKS &amp; TECHNICAL COUNTERMEASURES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09360" y="1353312"/>
            <a:ext cx="5349240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B42828"/>
                </a:solidFill>
                <a:latin typeface="Arial"/>
              </a:rPr>
              <a:t>- Inconsistent Spreadsheets: </a:t>
            </a:r>
            <a:r>
              <a:rPr sz="800">
                <a:solidFill>
                  <a:srgbClr val="222222"/>
                </a:solidFill>
                <a:latin typeface="Arial"/>
              </a:rPr>
              <a:t>Colleges use varying ERP column headers. -&gt; Control: Header alias normalizer maps 50+ divergent column variants into standard canonical schema.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B42828"/>
                </a:solidFill>
                <a:latin typeface="Arial"/>
              </a:rPr>
              <a:t>- Identifier Privacy Exposure: </a:t>
            </a:r>
            <a:r>
              <a:rPr sz="800">
                <a:solidFill>
                  <a:srgbClr val="222222"/>
                </a:solidFill>
                <a:latin typeface="Arial"/>
              </a:rPr>
              <a:t>Storing plaintext student APAAR IDs risks data leakage. -&gt; Control: Keyed HMAC-SHA256 pseudonymized indexing and dynamic masking ensure zero plaintext PII exposure.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B42828"/>
                </a:solidFill>
                <a:latin typeface="Arial"/>
              </a:rPr>
              <a:t>- Concurrent Admissions: </a:t>
            </a:r>
            <a:r>
              <a:rPr sz="800">
                <a:solidFill>
                  <a:srgbClr val="222222"/>
                </a:solidFill>
                <a:latin typeface="Arial"/>
              </a:rPr>
              <a:t>Students admitted concurrently across different institutions. -&gt; Control: Cross-institution collision radar cross-checks active admissions against central records and flags duplicates.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72200" y="3291840"/>
            <a:ext cx="5623560" cy="2779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309360" y="3182112"/>
            <a:ext cx="5349240" cy="274320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EVIDENCE: DUPLICATE COLLISION RADAR</a:t>
            </a:r>
          </a:p>
        </p:txBody>
      </p:sp>
      <p:pic>
        <p:nvPicPr>
          <p:cNvPr id="17418" name="Picture 17417" descr="slide_4_Pictur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493008"/>
            <a:ext cx="5404104" cy="196596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6281928" y="5532120"/>
            <a:ext cx="5404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>
                <a:solidFill>
                  <a:srgbClr val="64748B"/>
                </a:solidFill>
                <a:latin typeface="Arial"/>
              </a:defRPr>
            </a:pPr>
            <a:r>
              <a:t>Duplicate Collision Radar: Side-by-side college enrollment audit, quota verification, and regulatory adjudication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MULTI-STAKEHOLDER IMPACT &amp; DEGREE VERIFICATION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623560" cy="4956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005840"/>
            <a:ext cx="5349240" cy="292608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MULTI-STAKEHOLDER REGULATORY IMPACT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- AICTE &amp; Regulatory Councils: </a:t>
            </a:r>
            <a:r>
              <a:rPr sz="819">
                <a:solidFill>
                  <a:srgbClr val="222222"/>
                </a:solidFill>
                <a:latin typeface="Arial"/>
              </a:rPr>
              <a:t>Comprehensive real-time visibility into institutional enrolment versus sanctioned intake quotas; early detection of unauthorized excess enrolments and quota breaches.</a:t>
            </a:r>
          </a:p>
          <a:p>
            <a:pPr>
              <a:spcBef>
                <a:spcPts val="70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- Approved Institutions: </a:t>
            </a:r>
            <a:r>
              <a:rPr sz="819">
                <a:solidFill>
                  <a:srgbClr val="222222"/>
                </a:solidFill>
                <a:latin typeface="Arial"/>
              </a:rPr>
              <a:t>Standardized data submission, instant row-level discrepancy explanations, and controlled resubmission workflows replacing prolonged paper audit cycles.</a:t>
            </a:r>
          </a:p>
          <a:p>
            <a:pPr>
              <a:spcBef>
                <a:spcPts val="70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- Students &amp; Deserving Candidates: </a:t>
            </a:r>
            <a:r>
              <a:rPr sz="819">
                <a:solidFill>
                  <a:srgbClr val="222222"/>
                </a:solidFill>
                <a:latin typeface="Arial"/>
              </a:rPr>
              <a:t>Transparent tracking protects legitimate seat allocations and safeguards affirmative action quotas from unauthorized commercial reallocation.</a:t>
            </a:r>
          </a:p>
          <a:p>
            <a:pPr>
              <a:spcBef>
                <a:spcPts val="70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- Academic Verifiers &amp; Employers: </a:t>
            </a:r>
            <a:r>
              <a:rPr sz="819">
                <a:solidFill>
                  <a:srgbClr val="222222"/>
                </a:solidFill>
                <a:latin typeface="Arial"/>
              </a:rPr>
              <a:t>Fast offline verification via QR code and cryptographically signed verification receipts without requiring manual institutional registrar confirmation.</a:t>
            </a:r>
          </a:p>
          <a:p>
            <a:pPr>
              <a:spcBef>
                <a:spcPts val="70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- Social Equity &amp; Affirmative Action: </a:t>
            </a:r>
            <a:r>
              <a:rPr sz="819">
                <a:solidFill>
                  <a:srgbClr val="222222"/>
                </a:solidFill>
                <a:latin typeface="Arial"/>
              </a:rPr>
              <a:t>Rigorous enforcement of statutory and supernumerary quotas (TFW, EWS, Kashmiri Migrants) against arbitrary substitution.</a:t>
            </a:r>
          </a:p>
          <a:p>
            <a:pPr>
              <a:spcBef>
                <a:spcPts val="70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- Administrative &amp; Paperless Efficiency: </a:t>
            </a:r>
            <a:r>
              <a:rPr sz="819">
                <a:solidFill>
                  <a:srgbClr val="222222"/>
                </a:solidFill>
                <a:latin typeface="Arial"/>
              </a:rPr>
              <a:t>100% digital data reconciliation replaces manual paperwork, physical affidavits, and physical institutional auditing logistics.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115568"/>
            <a:ext cx="5623560" cy="4956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309360" y="1005840"/>
            <a:ext cx="5349240" cy="292608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SIH-R10 ACADEMIC CERTIFICATE &amp; ED25519 QR PROOF</a:t>
            </a:r>
          </a:p>
        </p:txBody>
      </p:sp>
      <p:pic>
        <p:nvPicPr>
          <p:cNvPr id="17415" name="Picture 17414" descr="slide_5_Pictur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353312"/>
            <a:ext cx="5404104" cy="29260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6281928" y="4343400"/>
            <a:ext cx="5404104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- Dual Identity Display: </a:t>
            </a:r>
            <a:r>
              <a:rPr sz="780">
                <a:solidFill>
                  <a:srgbClr val="222222"/>
                </a:solidFill>
                <a:latin typeface="Arial"/>
              </a:rPr>
              <a:t>Certificates present Student Enrolment Roll No (ENR-108410E1) alongside masked APAAR ID (XXXXXXXX7890) and category quota status.</a:t>
            </a:r>
          </a:p>
          <a:p>
            <a:pPr>
              <a:spcBef>
                <a:spcPts val="30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- Asymmetric Ed25519 QR Code: </a:t>
            </a:r>
            <a:r>
              <a:rPr sz="780">
                <a:solidFill>
                  <a:srgbClr val="222222"/>
                </a:solidFill>
                <a:latin typeface="Arial"/>
              </a:rPr>
              <a:t>Embedded high-density QR code carries a digitally signed verification token; verifiers validate data integrity against AICTE public key offline.</a:t>
            </a:r>
          </a:p>
          <a:p>
            <a:pPr>
              <a:spcBef>
                <a:spcPts val="30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- Integrity Boundary Clarification: </a:t>
            </a:r>
            <a:r>
              <a:rPr sz="780">
                <a:solidFill>
                  <a:srgbClr val="222222"/>
                </a:solidFill>
                <a:latin typeface="Arial"/>
              </a:rPr>
              <a:t>Digital signature confirms platform-level record integrity and non-tampering; explicitly distinguished from official government identity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64592"/>
            <a:ext cx="8092440" cy="777240"/>
          </a:xfrm>
        </p:spPr>
        <p:txBody>
          <a:bodyPr wrap="square"/>
          <a:lstStyle/>
          <a:p>
            <a:pPr eaLnBrk="1" hangingPunct="1" algn="l">
              <a:defRPr sz="1650" b="1">
                <a:solidFill>
                  <a:srgbClr val="112266"/>
                </a:solidFill>
                <a:latin typeface="Arial"/>
              </a:defRPr>
            </a:pPr>
            <a:r>
              <a:t>RESEARCH, REFERENCES AND PROJECT RESOURCES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82880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15568"/>
            <a:ext cx="5623560" cy="4956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005840"/>
            <a:ext cx="5349240" cy="292608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AUTHORITATIVE STANDARDS &amp; REGULATORY CITATIONS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353312"/>
            <a:ext cx="5349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AICTE Approval Process Handbook (APH 2026-27)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222222"/>
                </a:solidFill>
                <a:latin typeface="Arial"/>
              </a:rPr>
              <a:t>Statutory norms for approved institutional intake capacity, supernumerary seat limits (TFW, EWS, Kashmiri Migrants), and programme approval guidelines.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National Education Policy (NEP 2020) &amp; APAAR / ABC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222222"/>
                </a:solidFill>
                <a:latin typeface="Arial"/>
              </a:rPr>
              <a:t>Government policy framework establishing the 12-digit Automated Permanent Academic Account Registry as the lifelong national academic identifier.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Digital Personal Data Protection Act (DPDP Act 2023)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222222"/>
                </a:solidFill>
                <a:latin typeface="Arial"/>
              </a:rPr>
              <a:t>Data fiduciary compliance, purpose limitation, identifier pseudonymization, dynamic masking, and student consent management frameworks.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IETF RFC 8032: Ed25519 Cryptography Specification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222222"/>
                </a:solidFill>
                <a:latin typeface="Arial"/>
              </a:rPr>
              <a:t>Edwards-Curve Digital Signature Algorithm (Curve25519) providing mathematical non-repudiation and instant receipt verification.</a:t>
            </a:r>
          </a:p>
          <a:p>
            <a:pPr>
              <a:spcBef>
                <a:spcPts val="700"/>
              </a:spcBef>
            </a:pPr>
            <a:r>
              <a:rPr sz="890" b="1">
                <a:solidFill>
                  <a:srgbClr val="1A365D"/>
                </a:solidFill>
                <a:latin typeface="Arial"/>
              </a:rPr>
              <a:t>- NIST SP 800-107: Recommendation for Secure Hashing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222222"/>
                </a:solidFill>
                <a:latin typeface="Arial"/>
              </a:rPr>
              <a:t>Cryptographic guidelines for sequential SHA-256 hash chaining utilized in the tamper-evident regulatory audit trail.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115568"/>
            <a:ext cx="5623560" cy="206654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309360" y="1005840"/>
            <a:ext cx="5349240" cy="274320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SCOPE DIFFERENTIATION (PRIOR ART VS PRAMAAN-AICTE)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09360" y="1353312"/>
            <a:ext cx="5349240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- Validation Scope: </a:t>
            </a:r>
            <a:r>
              <a:rPr sz="800">
                <a:solidFill>
                  <a:srgbClr val="222222"/>
                </a:solidFill>
                <a:latin typeface="Arial"/>
              </a:rPr>
              <a:t>Generic uploads check syntax only. PRAMAAN performs 3-way reconciliation (Declarations x Uploads x Sanctioned Capacity).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- Reference Data: </a:t>
            </a:r>
            <a:r>
              <a:rPr sz="800">
                <a:solidFill>
                  <a:srgbClr val="222222"/>
                </a:solidFill>
                <a:latin typeface="Arial"/>
              </a:rPr>
              <a:t>Traditional workflows rely on static assumptions. PRAMAAN integrates dynamic database references with live revalidation.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- Finding Resolution: </a:t>
            </a:r>
            <a:r>
              <a:rPr sz="800">
                <a:solidFill>
                  <a:srgbClr val="222222"/>
                </a:solidFill>
                <a:latin typeface="Arial"/>
              </a:rPr>
              <a:t>Standard systems use opaque batch rejections. PRAMAAN provides row-level explainable findings and an editable quarantine sandbox.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- Verification Output: </a:t>
            </a:r>
            <a:r>
              <a:rPr sz="800">
                <a:solidFill>
                  <a:srgbClr val="222222"/>
                </a:solidFill>
                <a:latin typeface="Arial"/>
              </a:rPr>
              <a:t>Conventional portals yield unverified spreadsheets. PRAMAAN produces Ed25519-signed verification receipts and QR proofs.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72200" y="3291840"/>
            <a:ext cx="5623560" cy="2779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309360" y="3182112"/>
            <a:ext cx="5349240" cy="2743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TAMPER-EVIDENT AUDIT LEDGER &amp; LIVE DEPLOYMENT</a:t>
            </a:r>
          </a:p>
        </p:txBody>
      </p:sp>
      <p:pic>
        <p:nvPicPr>
          <p:cNvPr id="17418" name="Picture 17417" descr="slide_6_Pictur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493008"/>
            <a:ext cx="5404104" cy="137160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6281928" y="4919472"/>
            <a:ext cx="540410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008C6E"/>
                </a:solidFill>
                <a:latin typeface="Arial"/>
              </a:rPr>
              <a:t>- Live Web Platform: </a:t>
            </a:r>
            <a:r>
              <a:rPr sz="780">
                <a:solidFill>
                  <a:srgbClr val="222222"/>
                </a:solidFill>
                <a:latin typeface="Arial"/>
              </a:rPr>
              <a:t>https://brainforge.info | https://pramaan.brainforge.info (Vercel Edge, SSL active)</a:t>
            </a:r>
          </a:p>
          <a:p>
            <a:pPr>
              <a:spcBef>
                <a:spcPts val="200"/>
              </a:spcBef>
            </a:pPr>
            <a:r>
              <a:rPr sz="819" b="1">
                <a:solidFill>
                  <a:srgbClr val="008C6E"/>
                </a:solidFill>
                <a:latin typeface="Arial"/>
              </a:rPr>
              <a:t>- Live Backend &amp; API: </a:t>
            </a:r>
            <a:r>
              <a:rPr sz="780">
                <a:solidFill>
                  <a:srgbClr val="222222"/>
                </a:solidFill>
                <a:latin typeface="Arial"/>
              </a:rPr>
              <a:t>https://apaar-id-based-system.onrender.com/docs (73 OpenAPI endpoints)</a:t>
            </a:r>
          </a:p>
          <a:p>
            <a:pPr>
              <a:spcBef>
                <a:spcPts val="200"/>
              </a:spcBef>
            </a:pPr>
            <a:r>
              <a:rPr sz="819" b="1">
                <a:solidFill>
                  <a:srgbClr val="008C6E"/>
                </a:solidFill>
                <a:latin typeface="Arial"/>
              </a:rPr>
              <a:t>- Source Repository: </a:t>
            </a:r>
            <a:r>
              <a:rPr sz="780">
                <a:solidFill>
                  <a:srgbClr val="222222"/>
                </a:solidFill>
                <a:latin typeface="Arial"/>
              </a:rPr>
              <a:t>https://github.com/naveeshpcbin/APAAR-ID-BASED-SYSTEM (Full code, tests, migrations)</a:t>
            </a:r>
          </a:p>
          <a:p>
            <a:pPr>
              <a:spcBef>
                <a:spcPts val="200"/>
              </a:spcBef>
            </a:pPr>
            <a:r>
              <a:rPr sz="819" b="1">
                <a:solidFill>
                  <a:srgbClr val="008C6E"/>
                </a:solidFill>
                <a:latin typeface="Arial"/>
              </a:rPr>
              <a:t>- Verification Status: </a:t>
            </a:r>
            <a:r>
              <a:rPr sz="780">
                <a:solidFill>
                  <a:srgbClr val="222222"/>
                </a:solidFill>
                <a:latin typeface="Arial"/>
              </a:rPr>
              <a:t>66/66 Unit Tests + 20 Phase F E2E Checks + Live Cloud Verified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7502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Rohith Mahendran</cp:lastModifiedBy>
  <cp:revision>149</cp:revision>
  <dcterms:created xsi:type="dcterms:W3CDTF">2013-12-12T18:46:50Z</dcterms:created>
  <dcterms:modified xsi:type="dcterms:W3CDTF">2026-10-23T14:08:40Z</dcterms:modified>
  <cp:category/>
</cp:coreProperties>
</file>