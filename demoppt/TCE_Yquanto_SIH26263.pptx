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6400" y="1968500"/>
            <a:ext cx="62230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50" b="1" dirty="0">
                <a:solidFill>
                  <a:srgbClr val="112266"/>
                </a:solidFill>
                <a:latin typeface="Arial" panose="020B0604020202020204" pitchFamily="34" charset="0"/>
              </a:rPr>
              <a:t>Problem Statement ID:</a:t>
            </a:r>
            <a:r>
              <a:rPr lang="en-US" sz="1550" b="1" dirty="0">
                <a:latin typeface="Arial" panose="020B0604020202020204" pitchFamily="34" charset="0"/>
              </a:rPr>
              <a:t> SIH26263
</a:t>
            </a:r>
            <a:r>
              <a:rPr lang="en-US" sz="1550" b="1" dirty="0">
                <a:solidFill>
                  <a:srgbClr val="112266"/>
                </a:solidFill>
                <a:latin typeface="Arial" panose="020B0604020202020204" pitchFamily="34" charset="0"/>
              </a:rPr>
              <a:t>Problem Statement Title:</a:t>
            </a:r>
            <a:r>
              <a:rPr lang="en-US" sz="1550" b="1" dirty="0">
                <a:latin typeface="Arial" panose="020B0604020202020204" pitchFamily="34" charset="0"/>
              </a:rPr>
              <a:t> Development of an APAAR ID-Based Student Data Management and Verification Platform for AICTE-Approved Institutions
</a:t>
            </a:r>
            <a:r>
              <a:rPr lang="en-US" sz="1550" b="1" dirty="0">
                <a:solidFill>
                  <a:srgbClr val="112266"/>
                </a:solidFill>
                <a:latin typeface="Arial" panose="020B0604020202020204" pitchFamily="34" charset="0"/>
              </a:rPr>
              <a:t>Theme:</a:t>
            </a:r>
            <a:r>
              <a:rPr lang="en-US" sz="1550" b="1" dirty="0">
                <a:latin typeface="Arial" panose="020B0604020202020204" pitchFamily="34" charset="0"/>
              </a:rPr>
              <a:t> Smart Automation
</a:t>
            </a:r>
            <a:r>
              <a:rPr lang="en-US" sz="1550" b="1" dirty="0">
                <a:solidFill>
                  <a:srgbClr val="112266"/>
                </a:solidFill>
                <a:latin typeface="Arial" panose="020B0604020202020204" pitchFamily="34" charset="0"/>
              </a:rPr>
              <a:t>PS Category:</a:t>
            </a:r>
            <a:r>
              <a:rPr lang="en-US" sz="1550" b="1" dirty="0">
                <a:latin typeface="Arial" panose="020B0604020202020204" pitchFamily="34" charset="0"/>
              </a:rPr>
              <a:t> Software
</a:t>
            </a:r>
            <a:r>
              <a:rPr lang="en-US" sz="1550" b="1" dirty="0">
                <a:solidFill>
                  <a:srgbClr val="112266"/>
                </a:solidFill>
                <a:latin typeface="Arial" panose="020B0604020202020204" pitchFamily="34" charset="0"/>
              </a:rPr>
              <a:t>Team ID:</a:t>
            </a:r>
            <a:r>
              <a:rPr lang="en-US" sz="1550" b="1" dirty="0">
                <a:latin typeface="Arial" panose="020B0604020202020204" pitchFamily="34" charset="0"/>
              </a:rPr>
              <a:t> </a:t>
            </a:r>
            <a:r>
              <a:rPr lang="en-US" sz="1550" b="1">
                <a:latin typeface="Arial" panose="020B0604020202020204" pitchFamily="34" charset="0"/>
              </a:rPr>
              <a:t>
</a:t>
            </a:r>
            <a:endParaRPr lang="en-IN" sz="15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78000" y="203200"/>
            <a:ext cx="7874000" cy="698500"/>
          </a:xfrm>
        </p:spPr>
        <p:txBody>
          <a:bodyPr/>
          <a:lstStyle/>
          <a:p>
            <a:pPr eaLnBrk="1" hangingPunct="1"/>
            <a:r>
              <a:rPr lang="en-US" sz="1800" b="1">
                <a:solidFill>
                  <a:srgbClr val="000000"/>
                </a:solidFill>
                <a:latin typeface="Arial" panose="020B0604020202020204" pitchFamily="34" charset="0"/>
                <a:ea typeface="ＭＳ Ｐゴシック" pitchFamily="1" charset="-128"/>
                <a:cs typeface="Times New Roman" panose="02020603050405020304" pitchFamily="18" charset="0"/>
              </a:rPr>
              <a:t>PRAMAAN-AICTE: APAAR-BASED REGULATORY MONITORING &amp; VERIFICATION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25400" rIns="25400" rtlCol="0" anchor="ctr"/>
          <a:lstStyle/>
          <a:p>
            <a:pPr algn="ctr"/>
            <a:r>
              <a:rPr lang="en-US" sz="1100" b="1">
                <a:solidFill>
                  <a:srgbClr val="112266"/>
                </a:solidFill>
                <a:latin typeface="Arial" panose="020B0604020202020204" pitchFamily="34" charset="0"/>
              </a:rPr>
              <a:t>TCE_Yquanto</a:t>
            </a:r>
            <a:endParaRPr lang="en-IN" sz="1100" b="1" dirty="0">
              <a:solidFill>
                <a:srgbClr val="112266"/>
              </a:solidFill>
              <a:latin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E6B239-A573-A229-9A54-D62171521C02}"/>
              </a:ext>
            </a:extLst>
          </p:cNvPr>
          <p:cNvSpPr txBox="1"/>
          <p:nvPr/>
        </p:nvSpPr>
        <p:spPr>
          <a:xfrm>
            <a:off x="355600" y="1168400"/>
            <a:ext cx="6286500" cy="53860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 dirty="0">
                <a:solidFill>
                  <a:srgbClr val="112266"/>
                </a:solidFill>
                <a:latin typeface="Arial" panose="020B0604020202020204" pitchFamily="34" charset="0"/>
              </a:rPr>
              <a:t>Proposed Solution (Describe your Idea/Solution/Prototype)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
</a:t>
            </a:r>
            <a:r>
              <a:rPr lang="en-IN" sz="1400" b="1" dirty="0">
                <a:solidFill>
                  <a:srgbClr val="008C6E"/>
                </a:solidFill>
                <a:latin typeface="Arial" panose="020B0604020202020204" pitchFamily="34" charset="0"/>
              </a:rPr>
              <a:t>Detailed explanation of the proposed solution: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
* High-trust, privacy-preserving regulatory intelligence platform for AICTE and institutions.
* End-to-end ERP/spreadsheet ingestion with automated schema mapping and preflight validation.
* Role-separated workspaces: Institution Data Desk, Central Review Console, and Trust Gateway.
</a:t>
            </a:r>
            <a:r>
              <a:rPr lang="en-IN" sz="1400" b="1" dirty="0">
                <a:solidFill>
                  <a:srgbClr val="008C6E"/>
                </a:solidFill>
                <a:latin typeface="Arial" panose="020B0604020202020204" pitchFamily="34" charset="0"/>
              </a:rPr>
              <a:t>How it addresses the problem: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
* Unifies fragmented records by anchoring admissions to verified APAAR identity references.
* Prevents phantom seats and ghost admissions via AICTE Approval Handbook (APH 2026-27) quota rules.
* Detects multi-college double </a:t>
            </a:r>
            <a:r>
              <a:rPr lang="en-IN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enrollments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 through automated cross-institution duplicate collision radar.
</a:t>
            </a:r>
            <a:r>
              <a:rPr lang="en-IN" sz="1400" b="1" dirty="0">
                <a:solidFill>
                  <a:srgbClr val="008C6E"/>
                </a:solidFill>
                <a:latin typeface="Arial" panose="020B0604020202020204" pitchFamily="34" charset="0"/>
              </a:rPr>
              <a:t>Innovation and uniqueness of the solution: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
* Zero Plaintext Storage: Keyed HMAC-SHA256 indexing + dynamic masking (********1234).
* Cryptographic Verifiability: Asymmetric Ed25519 digital signatures on all verification receipts.
* Tamper-Evident Ledger: Append-only sequential SHA-256 hash chaining securing all decisions</a:t>
            </a:r>
            <a:r>
              <a:rPr lang="en-IN" sz="1000" dirty="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0D1A1E-812F-BBA4-FFCD-F6D8546AAA26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0" y="1206500"/>
            <a:ext cx="5143500" cy="31115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75EC6A-C41E-D140-3E3C-B39301C60B37}"/>
              </a:ext>
            </a:extLst>
          </p:cNvPr>
          <p:cNvSpPr txBox="1"/>
          <p:nvPr/>
        </p:nvSpPr>
        <p:spPr>
          <a:xfrm>
            <a:off x="6794500" y="4368800"/>
            <a:ext cx="51435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50" i="1">
                <a:solidFill>
                  <a:srgbClr val="555555"/>
                </a:solidFill>
                <a:latin typeface="Arial" panose="020B0604020202020204" pitchFamily="34" charset="0"/>
              </a:rPr>
              <a:t>Prototype Evidence: AICTE Central Regulatory Monitoring Console with real-time intake utilization, active college directory, duplicate radar, and verification audit counts.</a:t>
            </a:r>
            <a:endParaRPr lang="en-IN" sz="850" i="1">
              <a:solidFill>
                <a:srgbClr val="555555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78000" y="203200"/>
            <a:ext cx="7874000" cy="698500"/>
          </a:xfrm>
        </p:spPr>
        <p:txBody>
          <a:bodyPr/>
          <a:lstStyle/>
          <a:p>
            <a:pPr eaLnBrk="1" hangingPunct="1"/>
            <a:r>
              <a:rPr lang="en-US" sz="1800" b="1">
                <a:solidFill>
                  <a:srgbClr val="000000"/>
                </a:solidFill>
                <a:latin typeface="Arial" panose="020B0604020202020204" pitchFamily="34" charset="0"/>
                <a:ea typeface="ＭＳ Ｐゴシック" pitchFamily="1" charset="-128"/>
                <a:cs typeface="Times New Roman" panose="02020603050405020304" pitchFamily="18" charset="0"/>
              </a:rPr>
              <a:t>TECHNICAL APPROACH &amp; ARCHITECTURE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25400" rIns="25400" rtlCol="0" anchor="ctr"/>
          <a:lstStyle/>
          <a:p>
            <a:pPr algn="ctr"/>
            <a:r>
              <a:rPr lang="en-US" sz="1100" b="1">
                <a:solidFill>
                  <a:srgbClr val="112266"/>
                </a:solidFill>
                <a:latin typeface="Arial" panose="020B0604020202020204" pitchFamily="34" charset="0"/>
              </a:rPr>
              <a:t>TCE_Yquanto</a:t>
            </a:r>
            <a:endParaRPr lang="en-IN" sz="1100" b="1" dirty="0">
              <a:solidFill>
                <a:srgbClr val="112266"/>
              </a:solidFill>
              <a:latin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F7CB49-6A78-A88F-F355-C70799F2A0AA}"/>
              </a:ext>
            </a:extLst>
          </p:cNvPr>
          <p:cNvSpPr txBox="1"/>
          <p:nvPr/>
        </p:nvSpPr>
        <p:spPr>
          <a:xfrm>
            <a:off x="355600" y="1168400"/>
            <a:ext cx="6286500" cy="517064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 dirty="0">
                <a:solidFill>
                  <a:srgbClr val="008C6E"/>
                </a:solidFill>
                <a:latin typeface="Arial" panose="020B0604020202020204" pitchFamily="34" charset="0"/>
              </a:rPr>
              <a:t>Technologies to be used: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
* Frontend Architecture: Next.js 14 App Router, TypeScript, Tailwind CSS, Recharts.
* Backend API Services: Python 3.10, </a:t>
            </a:r>
            <a:r>
              <a:rPr lang="en-IN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FastAPI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, </a:t>
            </a:r>
            <a:r>
              <a:rPr lang="en-IN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Pydantic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 V2, </a:t>
            </a:r>
            <a:r>
              <a:rPr lang="en-IN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Uvicorn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, </a:t>
            </a:r>
            <a:r>
              <a:rPr lang="en-IN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OpenAPI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 3.1 REST contracts.
* Database &amp; Persistence: SQLite 3 (WAL mode) / PostgreSQL dual-dialect via </a:t>
            </a:r>
            <a:r>
              <a:rPr lang="en-IN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SQLAlchemy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 ORM.
* Security &amp; Cryptography: Ed25519 (RFC 8032) asymmetric signatures, Keyed HMAC-SHA256, </a:t>
            </a:r>
            <a:r>
              <a:rPr lang="en-IN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bcrypt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.
* Data Processing: Pandas and </a:t>
            </a:r>
            <a:r>
              <a:rPr lang="en-IN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OpenPyXL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 for fault-tolerant tabular ingestion and reconciliation.
</a:t>
            </a:r>
            <a:r>
              <a:rPr lang="en-IN" sz="1400" b="1" dirty="0">
                <a:solidFill>
                  <a:srgbClr val="008C6E"/>
                </a:solidFill>
                <a:latin typeface="Arial" panose="020B0604020202020204" pitchFamily="34" charset="0"/>
              </a:rPr>
              <a:t>Methodology and process for implementation: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
* </a:t>
            </a:r>
            <a:r>
              <a:rPr lang="en-IN" sz="1400" b="1" dirty="0">
                <a:solidFill>
                  <a:srgbClr val="008C6E"/>
                </a:solidFill>
                <a:latin typeface="Arial" panose="020B0604020202020204" pitchFamily="34" charset="0"/>
              </a:rPr>
              <a:t>Multi-Tier Validation Pipeline: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
   1. Ingestion Desk: CSV/Excel drag-and-drop with fuzzy header mapping &amp; course code tolerance.
   2. Preflight Gate: Regex syntax checks, in-file duplicate detection, and intake ceiling audits.
   3. Atomic Two-Phase Commit: Staging into decoupled </a:t>
            </a:r>
            <a:r>
              <a:rPr lang="en-IN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StudentIdentity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 and </a:t>
            </a:r>
            <a:r>
              <a:rPr lang="en-IN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AdmissionRecord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.
   4. Regulatory Adjudication: Automated double-</a:t>
            </a:r>
            <a:r>
              <a:rPr lang="en-IN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enrollment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 radar with recorded reviewer remarks.
   5. Cryptographic Proof: Ed25519-signed verification receipts and tamper-evident SHA-256 audit.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39048A-D35C-69B4-EFA7-B19C02BDCE2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0" y="1206500"/>
            <a:ext cx="5143500" cy="31115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7D46F0-4AD6-7765-13CD-8CEE4125531C}"/>
              </a:ext>
            </a:extLst>
          </p:cNvPr>
          <p:cNvSpPr txBox="1"/>
          <p:nvPr/>
        </p:nvSpPr>
        <p:spPr>
          <a:xfrm>
            <a:off x="6794500" y="4368800"/>
            <a:ext cx="51435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50" i="1">
                <a:solidFill>
                  <a:srgbClr val="555555"/>
                </a:solidFill>
                <a:latin typeface="Arial" panose="020B0604020202020204" pitchFamily="34" charset="0"/>
              </a:rPr>
              <a:t>Prototype Evidence: Smart Ingestion Desk with automated schema mapping, pre-flight validation status, row findings ledger, and atomic batch commitment.</a:t>
            </a:r>
            <a:endParaRPr lang="en-IN" sz="850" i="1">
              <a:solidFill>
                <a:srgbClr val="555555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78000" y="203200"/>
            <a:ext cx="7874000" cy="698500"/>
          </a:xfrm>
        </p:spPr>
        <p:txBody>
          <a:bodyPr/>
          <a:lstStyle/>
          <a:p>
            <a:pPr eaLnBrk="1" hangingPunct="1"/>
            <a:r>
              <a:rPr lang="en-US" sz="1800" b="1">
                <a:solidFill>
                  <a:srgbClr val="000000"/>
                </a:solidFill>
                <a:latin typeface="Arial" panose="020B0604020202020204" pitchFamily="34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48783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25400" rIns="25400" rtlCol="0" anchor="ctr"/>
          <a:lstStyle/>
          <a:p>
            <a:pPr algn="ctr"/>
            <a:r>
              <a:rPr lang="en-US" sz="1100" b="1">
                <a:solidFill>
                  <a:srgbClr val="112266"/>
                </a:solidFill>
                <a:latin typeface="Arial" panose="020B0604020202020204" pitchFamily="34" charset="0"/>
              </a:rPr>
              <a:t>TCE_Yquanto</a:t>
            </a:r>
            <a:endParaRPr lang="en-IN" sz="1100" b="1" dirty="0">
              <a:solidFill>
                <a:srgbClr val="112266"/>
              </a:solidFill>
              <a:latin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42C2BC-E1E1-7A39-4DC1-27B885865DE7}"/>
              </a:ext>
            </a:extLst>
          </p:cNvPr>
          <p:cNvSpPr txBox="1"/>
          <p:nvPr/>
        </p:nvSpPr>
        <p:spPr>
          <a:xfrm>
            <a:off x="355600" y="981517"/>
            <a:ext cx="6286500" cy="58169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 dirty="0">
                <a:solidFill>
                  <a:srgbClr val="008C6E"/>
                </a:solidFill>
                <a:latin typeface="Arial" panose="020B0604020202020204" pitchFamily="34" charset="0"/>
              </a:rPr>
              <a:t>Analysis of the feasibility of the idea: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
* Operational Feasibility: Zero specialized hardware needed; works over modern web browsers.
* Verified Engineering Prototype: 31/31 passing unit/integration tests, 79% backend coverage.
* High Performance: Sub-50ms deterministic preflight checks; handles 5,000+ student batches.
</a:t>
            </a:r>
            <a:r>
              <a:rPr lang="en-IN" sz="1400" b="1" dirty="0">
                <a:solidFill>
                  <a:srgbClr val="008C6E"/>
                </a:solidFill>
                <a:latin typeface="Arial" panose="020B0604020202020204" pitchFamily="34" charset="0"/>
              </a:rPr>
              <a:t>Potential challenges and risks: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
* Data Inconsistency: Unstandardized CSV/Excel exports from fragmented college ERP systems.
* Identity Privacy Risk: Exposure of plaintext student identifiers violating DPDP Act 2023.
* Multi-College Collisions: Fraudulent concurrent admissions across multiple institutions.
* Unauthorized Record Tampering: Illicit modification of approved intake quotas or student status.
</a:t>
            </a:r>
            <a:r>
              <a:rPr lang="en-IN" sz="1400" b="1" dirty="0">
                <a:solidFill>
                  <a:srgbClr val="008C6E"/>
                </a:solidFill>
                <a:latin typeface="Arial" panose="020B0604020202020204" pitchFamily="34" charset="0"/>
              </a:rPr>
              <a:t>Strategies for overcoming these challenges: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
* Resilient Header Engine: Fuzzy column mapping and alias normalization (BTECH-CSE &lt;-&gt; CSE-BTECH).
* Privacy-by-Design: Keyed HMAC-SHA256 one-way hashing with zero plaintext APAAR storage.
* Concurrency Radar: Real-time cross-college duplicate detection with side-by-side adjudication.
* Tamper-Evident Ledger: Sequential SHA-256 hash chaining immediately exposes historical alterations.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795505-2470-389B-298C-F9A12135B02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0" y="1206500"/>
            <a:ext cx="5143500" cy="31115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049FC5-7112-D449-97C9-229F2A54A5A9}"/>
              </a:ext>
            </a:extLst>
          </p:cNvPr>
          <p:cNvSpPr txBox="1"/>
          <p:nvPr/>
        </p:nvSpPr>
        <p:spPr>
          <a:xfrm>
            <a:off x="6794500" y="4368800"/>
            <a:ext cx="51435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50" i="1">
                <a:solidFill>
                  <a:srgbClr val="555555"/>
                </a:solidFill>
                <a:latin typeface="Arial" panose="020B0604020202020204" pitchFamily="34" charset="0"/>
              </a:rPr>
              <a:t>Prototype Evidence: Cross-Institution Duplicate Collision Radar with side-by-side college enrollment audit, quota verification, and regulatory adjudication controls.</a:t>
            </a:r>
            <a:endParaRPr lang="en-IN" sz="850" i="1">
              <a:solidFill>
                <a:srgbClr val="555555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78000" y="203200"/>
            <a:ext cx="7874000" cy="698500"/>
          </a:xfrm>
        </p:spPr>
        <p:txBody>
          <a:bodyPr/>
          <a:lstStyle/>
          <a:p>
            <a:pPr eaLnBrk="1" hangingPunct="1"/>
            <a:r>
              <a:rPr lang="en-US" sz="1800" b="1">
                <a:solidFill>
                  <a:srgbClr val="000000"/>
                </a:solidFill>
                <a:latin typeface="Arial" panose="020B0604020202020204" pitchFamily="34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25400" rIns="25400" rtlCol="0" anchor="ctr"/>
          <a:lstStyle/>
          <a:p>
            <a:pPr algn="ctr"/>
            <a:r>
              <a:rPr lang="en-US" sz="1100" b="1">
                <a:solidFill>
                  <a:srgbClr val="112266"/>
                </a:solidFill>
                <a:latin typeface="Arial" panose="020B0604020202020204" pitchFamily="34" charset="0"/>
              </a:rPr>
              <a:t>TCE_Yquanto</a:t>
            </a:r>
            <a:endParaRPr lang="en-IN" sz="1100" b="1" dirty="0">
              <a:solidFill>
                <a:srgbClr val="112266"/>
              </a:solidFill>
              <a:latin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A32083-D7B9-44DD-90D6-0950C11CA809}"/>
              </a:ext>
            </a:extLst>
          </p:cNvPr>
          <p:cNvSpPr txBox="1"/>
          <p:nvPr/>
        </p:nvSpPr>
        <p:spPr>
          <a:xfrm>
            <a:off x="355600" y="1168400"/>
            <a:ext cx="6286500" cy="45243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 dirty="0">
                <a:solidFill>
                  <a:srgbClr val="008C6E"/>
                </a:solidFill>
                <a:latin typeface="Arial" panose="020B0604020202020204" pitchFamily="34" charset="0"/>
              </a:rPr>
              <a:t>Potential impact on the target audience: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
* AICTE &amp; Regulators: Instant national visibility over intake compliance and automated quota audit.
* Institutions: Streamlined digital admissions reconciliation; eliminates manual verification delays.
* Students &amp; Parents: Fraud-free seat allocation; verifiable academic identity credentials.
* Industry &amp; Employers: Instant zero-trust verification of student credentials via QR scanning.
</a:t>
            </a:r>
            <a:r>
              <a:rPr lang="en-IN" sz="1400" b="1" dirty="0">
                <a:solidFill>
                  <a:srgbClr val="008C6E"/>
                </a:solidFill>
                <a:latin typeface="Arial" panose="020B0604020202020204" pitchFamily="34" charset="0"/>
              </a:rPr>
              <a:t>Benefits of the solution: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
* Economic Benefit: Prevents ghost-seat grant diversion and illegal seat-blocking across colleges.
* Social Equity: Enforces reservation limits and supernumerary seats (TFW 5%, EWS 10%, NRI/FN 15%).
* Regulatory Integrity: Guarantees compliance with NEP 2020 and DPDP Act 2023 privacy mandates.
* Environmental &amp; Operational: 100% paperless verification eliminating physical transit and forgery.
* SIH-R10 Compliance: Side-by-side Student ID and Masked APAAR ID on verifiable certificates.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15CA9E-24AD-34CA-1506-C3C80AFFF78A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0" y="1206500"/>
            <a:ext cx="5143500" cy="31115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BEAFFA-A3E9-D748-0C4D-C753DFFF61DD}"/>
              </a:ext>
            </a:extLst>
          </p:cNvPr>
          <p:cNvSpPr txBox="1"/>
          <p:nvPr/>
        </p:nvSpPr>
        <p:spPr>
          <a:xfrm>
            <a:off x="6794500" y="4368800"/>
            <a:ext cx="51435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50" i="1">
                <a:solidFill>
                  <a:srgbClr val="555555"/>
                </a:solidFill>
                <a:latin typeface="Arial" panose="020B0604020202020204" pitchFamily="34" charset="0"/>
              </a:rPr>
              <a:t>Prototype Evidence: SIH-R10 Academic Certificate displaying Student ID alongside Masked APAAR ID with verified government seal and Ed25519 QR verification code.</a:t>
            </a:r>
            <a:endParaRPr lang="en-IN" sz="850" i="1">
              <a:solidFill>
                <a:srgbClr val="555555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78000" y="203200"/>
            <a:ext cx="7874000" cy="698500"/>
          </a:xfrm>
        </p:spPr>
        <p:txBody>
          <a:bodyPr/>
          <a:lstStyle/>
          <a:p>
            <a:pPr eaLnBrk="1" hangingPunct="1"/>
            <a:r>
              <a:rPr lang="en-US" sz="1800" b="1">
                <a:solidFill>
                  <a:srgbClr val="000000"/>
                </a:solidFill>
                <a:latin typeface="Arial" panose="020B0604020202020204" pitchFamily="34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  <a:endParaRPr lang="en-US" sz="1800" b="1" dirty="0">
              <a:solidFill>
                <a:srgbClr val="000000"/>
              </a:solidFill>
              <a:latin typeface="Arial" panose="020B0604020202020204" pitchFamily="34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25400" rIns="25400" rtlCol="0" anchor="ctr"/>
          <a:lstStyle/>
          <a:p>
            <a:pPr algn="ctr"/>
            <a:r>
              <a:rPr lang="en-US" sz="1100" b="1">
                <a:solidFill>
                  <a:srgbClr val="112266"/>
                </a:solidFill>
                <a:latin typeface="Arial" panose="020B0604020202020204" pitchFamily="34" charset="0"/>
              </a:rPr>
              <a:t>TCE_Yquanto</a:t>
            </a:r>
            <a:endParaRPr lang="en-IN" sz="1100" b="1" dirty="0">
              <a:solidFill>
                <a:srgbClr val="112266"/>
              </a:solidFill>
              <a:latin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B3046B-106C-9C41-C479-61A96643B094}"/>
              </a:ext>
            </a:extLst>
          </p:cNvPr>
          <p:cNvSpPr txBox="1"/>
          <p:nvPr/>
        </p:nvSpPr>
        <p:spPr>
          <a:xfrm>
            <a:off x="355600" y="1168400"/>
            <a:ext cx="6286500" cy="36625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 dirty="0">
                <a:solidFill>
                  <a:srgbClr val="008C6E"/>
                </a:solidFill>
                <a:latin typeface="Arial" panose="020B0604020202020204" pitchFamily="34" charset="0"/>
              </a:rPr>
              <a:t>Details / Links of the reference and research work:</a:t>
            </a:r>
            <a:r>
              <a:rPr lang="en-IN" sz="1400" dirty="0">
                <a:solidFill>
                  <a:srgbClr val="222222"/>
                </a:solidFill>
                <a:latin typeface="Arial" panose="020B0604020202020204" pitchFamily="34" charset="0"/>
              </a:rPr>
              <a:t>
* AICTE Approval Process Handbook (APH 2026-27):
   Norms for intake capacity, supernumerary quotas (TFW 5%, EWS 10%, NRI/FN 15%).
* National Education Policy (NEP 2020) &amp; NAD:
   Framework for APAAR (Automated Permanent Academic Account Registry) and ABC.
* IETF RFC 8032:
   Edwards-Curve Digital Signature Algorithm (Ed25519) for tamper-proof verification receipts.
* Digital Personal Data Protection Act (DPDP Act 2023):
   Principles of purpose limitation, data minimization, and identifier pseudonymization.
* NIST Special Publication 800-107:
   Cryptographic hash standards for sequential hash-chain audit logging.
* Live Prototype Repository &amp; Working Evidence:
   https://github.com/naveeshpcbin/APAAR-ID-BASED-SYSTEM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FF8FDD-08A7-8B6B-4F9F-FA1D06501597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0" y="1206500"/>
            <a:ext cx="5143500" cy="31115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668086-AF9D-DEC7-8FDD-76A4D8BD3687}"/>
              </a:ext>
            </a:extLst>
          </p:cNvPr>
          <p:cNvSpPr txBox="1"/>
          <p:nvPr/>
        </p:nvSpPr>
        <p:spPr>
          <a:xfrm>
            <a:off x="6794500" y="4368800"/>
            <a:ext cx="51435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50" i="1">
                <a:solidFill>
                  <a:srgbClr val="555555"/>
                </a:solidFill>
                <a:latin typeface="Arial" panose="020B0604020202020204" pitchFamily="34" charset="0"/>
              </a:rPr>
              <a:t>Prototype Evidence: Tamper-Evident SHA-256 Hash Chain Audit Ledger proving mathematical immutability across all admissions, commits, and review approvals.</a:t>
            </a:r>
            <a:endParaRPr lang="en-IN" sz="850" i="1">
              <a:solidFill>
                <a:srgbClr val="555555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7508</TotalTime>
  <Words>1108</Words>
  <Application>Microsoft Office PowerPoint</Application>
  <PresentationFormat>Widescreen</PresentationFormat>
  <Paragraphs>39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PRAMAAN-AICTE: APAAR-BASED REGULATORY MONITORING &amp; VERIFICATION</vt:lpstr>
      <vt:lpstr>TECHNICAL APPROACH &amp; ARCHITECTURE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NAVEESH P</cp:lastModifiedBy>
  <cp:revision>152</cp:revision>
  <dcterms:created xsi:type="dcterms:W3CDTF">2013-12-12T18:46:50Z</dcterms:created>
  <dcterms:modified xsi:type="dcterms:W3CDTF">2026-10-23T15:30:17Z</dcterms:modified>
  <cp:category/>
</cp:coreProperties>
</file>