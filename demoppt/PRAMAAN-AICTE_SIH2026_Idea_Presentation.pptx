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77724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50" b="1">
                <a:solidFill>
                  <a:srgbClr val="112266"/>
                </a:solidFill>
                <a:latin typeface="Arial"/>
              </a:rPr>
              <a:t>Problem Statement ID: </a:t>
            </a:r>
            <a:r>
              <a:rPr sz="1300" b="1">
                <a:solidFill>
                  <a:srgbClr val="222222"/>
                </a:solidFill>
                <a:latin typeface="Arial"/>
              </a:rPr>
              <a:t>SIH26263</a:t>
            </a:r>
            <a:endParaRPr lang="en-US" dirty="0"/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Problem Statement Title: </a:t>
            </a:r>
            <a:r>
              <a:rPr sz="1300" b="0">
                <a:solidFill>
                  <a:srgbClr val="222222"/>
                </a:solidFill>
                <a:latin typeface="Arial"/>
              </a:rPr>
              <a:t>Development of an APAAR ID-Based Student Data Management and Verification Platform for AICTE-Approved Institutions</a:t>
            </a:r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Theme: </a:t>
            </a:r>
            <a:r>
              <a:rPr sz="1300" b="0">
                <a:solidFill>
                  <a:srgbClr val="222222"/>
                </a:solidFill>
                <a:latin typeface="Arial"/>
              </a:rPr>
              <a:t>Smart Automation</a:t>
            </a:r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PS Category: </a:t>
            </a:r>
            <a:r>
              <a:rPr sz="1300" b="0">
                <a:solidFill>
                  <a:srgbClr val="222222"/>
                </a:solidFill>
                <a:latin typeface="Arial"/>
              </a:rPr>
              <a:t>Software</a:t>
            </a:r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Team ID: </a:t>
            </a:r>
            <a:r>
              <a:rPr sz="1300" b="0">
                <a:solidFill>
                  <a:srgbClr val="222222"/>
                </a:solidFill>
                <a:latin typeface="Arial"/>
              </a:rPr>
              <a:t>[YOUR TEAM ID]</a:t>
            </a:r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Team Name: </a:t>
            </a:r>
            <a:r>
              <a:rPr sz="1300" b="1">
                <a:solidFill>
                  <a:srgbClr val="222222"/>
                </a:solidFill>
                <a:latin typeface="Arial"/>
              </a:rPr>
              <a:t>TCE_Yquanto (Thiagarajar College of Engineering)</a:t>
            </a:r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Live Repository: </a:t>
            </a:r>
            <a:r>
              <a:rPr sz="1300" b="1">
                <a:solidFill>
                  <a:srgbClr val="008C6E"/>
                </a:solidFill>
                <a:latin typeface="Arial"/>
              </a:rPr>
              <a:t>https://github.com/naveeshpcbin/APAAR-ID-BASED-SYSTEM</a:t>
            </a:r>
          </a:p>
          <a:p>
            <a:pPr>
              <a:spcBef>
                <a:spcPts val="700"/>
              </a:spcBef>
            </a:pPr>
            <a:r>
              <a:rPr sz="1350" b="1">
                <a:solidFill>
                  <a:srgbClr val="112266"/>
                </a:solidFill>
                <a:latin typeface="Arial"/>
              </a:rPr>
              <a:t>Prototype Domain: </a:t>
            </a:r>
            <a:r>
              <a:rPr sz="1300" b="0">
                <a:solidFill>
                  <a:srgbClr val="008C6E"/>
                </a:solidFill>
                <a:latin typeface="Arial"/>
              </a:rPr>
              <a:t>https://pramaan-aicte.yourdomain.com  [PASTE CUSTOM DOMAIN HERE]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164592"/>
            <a:ext cx="8046720" cy="77724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PRAMAAN-AICTE: APAAR-BASED REGULATORY RECONCILIATION &amp; MONITORING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15568"/>
            <a:ext cx="62179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8C6E"/>
                </a:solidFill>
                <a:latin typeface="Arial"/>
              </a:defRPr>
            </a:pPr>
            <a:r>
              <a:t>Proposed Solution &amp; Architectural Overview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Dual-Portal Ecosystem: </a:t>
            </a:r>
            <a:r>
              <a:rPr sz="950" b="0">
                <a:solidFill>
                  <a:srgbClr val="222222"/>
                </a:solidFill>
                <a:latin typeface="Arial"/>
              </a:rPr>
              <a:t>Decouples institutional ingestion workspaces from the AICTE Central Executive Command Center for tenant privacy.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Automated Batch Lifecycle: </a:t>
            </a:r>
            <a:r>
              <a:rPr sz="950" b="0">
                <a:solidFill>
                  <a:srgbClr val="222222"/>
                </a:solidFill>
                <a:latin typeface="Arial"/>
              </a:rPr>
              <a:t>Excel/CSV upload -&gt; Smart Header Alias Normalization -&gt; Pre-flight Sandbox -&gt; Atomic 2-Phase Commit.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Real-Time Regulatory Audit: </a:t>
            </a:r>
            <a:r>
              <a:rPr sz="950" b="0">
                <a:solidFill>
                  <a:srgbClr val="222222"/>
                </a:solidFill>
                <a:latin typeface="Arial"/>
              </a:rPr>
              <a:t>Continuous validation ensures complete institutional record authenticity before official academic census locking.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Addressing Core Problem Vulnerabilities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Ghost Admissions Elimination: </a:t>
            </a:r>
            <a:r>
              <a:rPr sz="950" b="0">
                <a:solidFill>
                  <a:srgbClr val="222222"/>
                </a:solidFill>
                <a:latin typeface="Arial"/>
              </a:rPr>
              <a:t>Anchors all technical admissions to verified 12-digit national APAAR IDs validated via Verhoeff dihedral D5 permutations.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Intake Ceiling Enforcement: </a:t>
            </a:r>
            <a:r>
              <a:rPr sz="950" b="0">
                <a:solidFill>
                  <a:srgbClr val="222222"/>
                </a:solidFill>
                <a:latin typeface="Arial"/>
              </a:rPr>
              <a:t>Validates admissions against versioned AICTE Approval Handbook (APH 2026-27) limits (General, TFW 5%, EWS 10%, NRI/FN 15%).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Cross-College Collision Radar: </a:t>
            </a:r>
            <a:r>
              <a:rPr sz="950" b="0">
                <a:solidFill>
                  <a:srgbClr val="222222"/>
                </a:solidFill>
                <a:latin typeface="Arial"/>
              </a:rPr>
              <a:t>Real-time cross-institutional duplicate detection prevents fraudulent concurrent multi-college technical admissions.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Key Technical Innovations &amp; Security Layer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Zero Plaintext Storage: </a:t>
            </a:r>
            <a:r>
              <a:rPr sz="950" b="0">
                <a:solidFill>
                  <a:srgbClr val="222222"/>
                </a:solidFill>
                <a:latin typeface="Arial"/>
              </a:rPr>
              <a:t>Keyed HMAC-SHA256 indexing + dynamic masking (XXXX-XXXX-9012) satisfies DPDP Act 2023 without searchable plaintext exposure.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Asymmetric Verifiability: </a:t>
            </a:r>
            <a:r>
              <a:rPr sz="950" b="0">
                <a:solidFill>
                  <a:srgbClr val="222222"/>
                </a:solidFill>
                <a:latin typeface="Arial"/>
              </a:rPr>
              <a:t>Issues Ed25519 (Curve25519) digitally signed verification receipts with high-density QR codes (zero PII in public URLs).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Tamper-Evident Ledger: </a:t>
            </a:r>
            <a:r>
              <a:rPr sz="950" b="0">
                <a:solidFill>
                  <a:srgbClr val="222222"/>
                </a:solidFill>
                <a:latin typeface="Arial"/>
              </a:rPr>
              <a:t>Sequential SHA-256 cryptographic hash chain guarantees non-repudiation and detects single-bit database modifications.</a:t>
            </a:r>
          </a:p>
        </p:txBody>
      </p:sp>
      <p:pic>
        <p:nvPicPr>
          <p:cNvPr id="15363" name="Picture 15362" descr="dashboar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5074920" cy="338328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720840" y="4681728"/>
            <a:ext cx="507492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50" b="1">
                <a:solidFill>
                  <a:srgbClr val="008C6E"/>
                </a:solidFill>
                <a:latin typeface="Arial"/>
              </a:defRPr>
            </a:pPr>
            <a:r>
              <a:t>PROTOTYPE EVIDENCE &amp; LIVE VERIFICATION</a:t>
            </a:r>
          </a:p>
          <a:p>
            <a:pPr>
              <a:spcBef>
                <a:spcPts val="200"/>
              </a:spcBef>
              <a:defRPr sz="850" i="1">
                <a:solidFill>
                  <a:srgbClr val="5A5A5A"/>
                </a:solidFill>
                <a:latin typeface="Arial"/>
              </a:defRPr>
            </a:pPr>
            <a:r>
              <a:t>AICTE National Command Center (/dashboard) featuring live sanctioned vs verified intake metrics, affirmative action quotas, duplicate conflict alerts, and real-time audit ledger feeds.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64592"/>
            <a:ext cx="8046720" cy="77724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TECHNICAL APPROACH &amp; DECOUPLED GOVERNANCE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62179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8C6E"/>
                </a:solidFill>
                <a:latin typeface="Arial"/>
              </a:defRPr>
            </a:pPr>
            <a:r>
              <a:t>Core Production Technology Stack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Frontend Architecture: </a:t>
            </a:r>
            <a:r>
              <a:rPr sz="950" b="0">
                <a:solidFill>
                  <a:srgbClr val="222222"/>
                </a:solidFill>
                <a:latin typeface="Arial"/>
              </a:rPr>
              <a:t>Next.js 14 App Router, TypeScript (Strict), Tailwind CSS, Lucide Icons, Recharts Analytics.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Backend Micro-Services: </a:t>
            </a:r>
            <a:r>
              <a:rPr sz="950" b="0">
                <a:solidFill>
                  <a:srgbClr val="222222"/>
                </a:solidFill>
                <a:latin typeface="Arial"/>
              </a:rPr>
              <a:t>Python 3.10+, FastAPI (Modular Monolith), Pydantic v2, Uvicorn, OpenAPI 3.1 REST contracts.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Persistence &amp; Cloud DB: </a:t>
            </a:r>
            <a:r>
              <a:rPr sz="950" b="0">
                <a:solidFill>
                  <a:srgbClr val="222222"/>
                </a:solidFill>
                <a:latin typeface="Arial"/>
              </a:rPr>
              <a:t>Supabase Cloud PostgreSQL (Port 6543 pooler, RLS policies) / SQLite WAL zero-setup local dev.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Security &amp; Cryptography: </a:t>
            </a:r>
            <a:r>
              <a:rPr sz="950" b="0">
                <a:solidFill>
                  <a:srgbClr val="222222"/>
                </a:solidFill>
                <a:latin typeface="Arial"/>
              </a:rPr>
              <a:t>Ed25519 asymmetric signatures (PyNaCl/RFC 8032), Keyed HMAC-SHA256, bcrypt password hashing.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Resilient Ingestion Core: </a:t>
            </a:r>
            <a:r>
              <a:rPr sz="950" b="0">
                <a:solidFill>
                  <a:srgbClr val="222222"/>
                </a:solidFill>
                <a:latin typeface="Arial"/>
              </a:rPr>
              <a:t>Pandas &amp; OpenPyXL with regex normalizer for fault-tolerant tabular parsing across diverse ERP schemas.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5-Tier Implementation Methodology &amp; Pipeline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1. Resilient Ingestion Desk: </a:t>
            </a:r>
            <a:r>
              <a:rPr sz="950" b="0">
                <a:solidFill>
                  <a:srgbClr val="222222"/>
                </a:solidFill>
                <a:latin typeface="Arial"/>
              </a:rPr>
              <a:t>Sub-50ms fuzzy alias matching resolves inconsistent college column headers (e.g., student_apaar &lt;-&gt; apaar_id).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2. Pre-flight Validation Gate: </a:t>
            </a:r>
            <a:r>
              <a:rPr sz="950" b="0">
                <a:solidFill>
                  <a:srgbClr val="222222"/>
                </a:solidFill>
                <a:latin typeface="Arial"/>
              </a:rPr>
              <a:t>Quarantines rows; executes Verhoeff identity syntax, approved intake bounds, and supernumerary quota isolation.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3. Atomic Staging Sandbox: </a:t>
            </a:r>
            <a:r>
              <a:rPr sz="950" b="0">
                <a:solidFill>
                  <a:srgbClr val="222222"/>
                </a:solidFill>
                <a:latin typeface="Arial"/>
              </a:rPr>
              <a:t>Enables in-browser spreadsheet inspection, error highlighting, and inline corrections prior to permanent submission.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4. Regulatory Adjudication: </a:t>
            </a:r>
            <a:r>
              <a:rPr sz="950" b="0">
                <a:solidFill>
                  <a:srgbClr val="222222"/>
                </a:solidFill>
                <a:latin typeface="Arial"/>
              </a:rPr>
              <a:t>Automated double-enrollment radar triggers dispute hearings with recorded reviewer remarks and college notices.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5. Cryptographic Proof Engine: </a:t>
            </a:r>
            <a:r>
              <a:rPr sz="950" b="0">
                <a:solidFill>
                  <a:srgbClr val="222222"/>
                </a:solidFill>
                <a:latin typeface="Arial"/>
              </a:rPr>
              <a:t>Issues Ed25519 signed verification receipts and appends tamper-evident SHA-256 audit ledger events.</a:t>
            </a:r>
          </a:p>
        </p:txBody>
      </p:sp>
      <p:pic>
        <p:nvPicPr>
          <p:cNvPr id="17411" name="Picture 17410" descr="uploads_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5074920" cy="33832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720840" y="4681728"/>
            <a:ext cx="507492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50" b="1">
                <a:solidFill>
                  <a:srgbClr val="008C6E"/>
                </a:solidFill>
                <a:latin typeface="Arial"/>
              </a:defRPr>
            </a:pPr>
            <a:r>
              <a:t>PROTOTYPE EVIDENCE &amp; LIVE VERIFICATION</a:t>
            </a:r>
          </a:p>
          <a:p>
            <a:pPr>
              <a:spcBef>
                <a:spcPts val="200"/>
              </a:spcBef>
              <a:defRPr sz="850" i="1">
                <a:solidFill>
                  <a:srgbClr val="5A5A5A"/>
                </a:solidFill>
                <a:latin typeface="Arial"/>
              </a:defRPr>
            </a:pPr>
            <a:r>
              <a:t>Smart Ingestion Desk (/uploads) showcasing automated schema normalizer, pre-flight error severity categorization (ERROR, WARNING, INFO), inline cell editing, and atomic batch commitment.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64592"/>
            <a:ext cx="8046720" cy="77724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FEASIBILITY, SCALABILITY &amp; RISK MITIGATION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62179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8C6E"/>
                </a:solidFill>
                <a:latin typeface="Arial"/>
              </a:defRPr>
            </a:pPr>
            <a:r>
              <a:t>Feasibility Analysis &amp; Scalability Metrics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Operational Feasibility: </a:t>
            </a:r>
            <a:r>
              <a:rPr sz="950" b="0">
                <a:solidFill>
                  <a:srgbClr val="222222"/>
                </a:solidFill>
                <a:latin typeface="Arial"/>
              </a:rPr>
              <a:t>Zero client installation; operates seamlessly over standard institutional web browsers on any modern OS.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Verified Prototype: </a:t>
            </a:r>
            <a:r>
              <a:rPr sz="950" b="0">
                <a:solidFill>
                  <a:srgbClr val="222222"/>
                </a:solidFill>
                <a:latin typeface="Arial"/>
              </a:rPr>
              <a:t>Exhaustively verified with 59/59 passing pytest test suite and 33/33 live verified FastAPI endpoints.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High-Throughput Ingestion: </a:t>
            </a:r>
            <a:r>
              <a:rPr sz="950" b="0">
                <a:solidFill>
                  <a:srgbClr val="222222"/>
                </a:solidFill>
                <a:latin typeface="Arial"/>
              </a:rPr>
              <a:t>Chunked asynchronous database commits process 5,000+ student batches in under 2 seconds.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Identified Governance Challenges &amp; Risks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Heterogeneous College Formats: </a:t>
            </a:r>
            <a:r>
              <a:rPr sz="950" b="0">
                <a:solidFill>
                  <a:srgbClr val="222222"/>
                </a:solidFill>
                <a:latin typeface="Arial"/>
              </a:rPr>
              <a:t>Thousands of approved colleges maintain conflicting spreadsheet schemas, date layouts, and branch codes.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Identity Privacy Risks: </a:t>
            </a:r>
            <a:r>
              <a:rPr sz="950" b="0">
                <a:solidFill>
                  <a:srgbClr val="222222"/>
                </a:solidFill>
                <a:latin typeface="Arial"/>
              </a:rPr>
              <a:t>Plaintext storage or logging of 12-digit student APAAR identifiers violates DPDP Act 2023 mandates.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Cross-Institution Collisions: </a:t>
            </a:r>
            <a:r>
              <a:rPr sz="950" b="0">
                <a:solidFill>
                  <a:srgbClr val="222222"/>
                </a:solidFill>
                <a:latin typeface="Arial"/>
              </a:rPr>
              <a:t>Simultaneous student admission claims across multiple colleges create jurisdictional deadlocks.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Database Tamper Risks: </a:t>
            </a:r>
            <a:r>
              <a:rPr sz="950" b="0">
                <a:solidFill>
                  <a:srgbClr val="222222"/>
                </a:solidFill>
                <a:latin typeface="Arial"/>
              </a:rPr>
              <a:t>Risk of illicit database modification of sanctioned intake quotas or student admission statuses.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Concrete Technical Countermeasures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Fuzzy Normalization Engine: </a:t>
            </a:r>
            <a:r>
              <a:rPr sz="950" b="0">
                <a:solidFill>
                  <a:srgbClr val="222222"/>
                </a:solidFill>
                <a:latin typeface="Arial"/>
              </a:rPr>
              <a:t>Regex alias dictionary automatically standardizes column headers and auto-detects date formats.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Privacy-Preserving Hashing: </a:t>
            </a:r>
            <a:r>
              <a:rPr sz="950" b="0">
                <a:solidFill>
                  <a:srgbClr val="222222"/>
                </a:solidFill>
                <a:latin typeface="Arial"/>
              </a:rPr>
              <a:t>HMAC-SHA256 indexing + dynamic masking guarantees zero plaintext APAAR exposure across the cloud.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Side-by-Side Adjudication: </a:t>
            </a:r>
            <a:r>
              <a:rPr sz="950" b="0">
                <a:solidFill>
                  <a:srgbClr val="222222"/>
                </a:solidFill>
                <a:latin typeface="Arial"/>
              </a:rPr>
              <a:t>Automated dispute queue with side-by-side claim timestamps, fee receipts, and one-click resolution.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Cryptographic Hash Chain: </a:t>
            </a:r>
            <a:r>
              <a:rPr sz="950" b="0">
                <a:solidFill>
                  <a:srgbClr val="222222"/>
                </a:solidFill>
                <a:latin typeface="Arial"/>
              </a:rPr>
              <a:t>Sequential SHA-256 hash chaining mathematically exposes any historical record tampering.</a:t>
            </a:r>
          </a:p>
        </p:txBody>
      </p:sp>
      <p:pic>
        <p:nvPicPr>
          <p:cNvPr id="17411" name="Picture 17410" descr="conflicts_adjudic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5074920" cy="33832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720840" y="4681728"/>
            <a:ext cx="507492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50" b="1">
                <a:solidFill>
                  <a:srgbClr val="008C6E"/>
                </a:solidFill>
                <a:latin typeface="Arial"/>
              </a:defRPr>
            </a:pPr>
            <a:r>
              <a:t>PROTOTYPE EVIDENCE &amp; LIVE VERIFICATION</a:t>
            </a:r>
          </a:p>
          <a:p>
            <a:pPr>
              <a:spcBef>
                <a:spcPts val="200"/>
              </a:spcBef>
              <a:defRPr sz="850" i="1">
                <a:solidFill>
                  <a:srgbClr val="5A5A5A"/>
                </a:solidFill>
                <a:latin typeface="Arial"/>
              </a:defRPr>
            </a:pPr>
            <a:r>
              <a:t>Cross-Institution Duplicate Adjudication Console (/conflicts) demonstrating Case CONF-2026-0042 (DTU Delhi vs COEP Pune) with side-by-side claim timestamps, fee proofs, and resolution controls.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64592"/>
            <a:ext cx="8046720" cy="77724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REGULATORY IMPACT, SOCIAL EQUITY &amp; SIH-R10 COMPLIANCE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62179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8C6E"/>
                </a:solidFill>
                <a:latin typeface="Arial"/>
              </a:defRPr>
            </a:pPr>
            <a:r>
              <a:t>Impact on Target Regulatory Stakeholders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AICTE &amp; Regulators: </a:t>
            </a:r>
            <a:r>
              <a:rPr sz="950" b="0">
                <a:solidFill>
                  <a:srgbClr val="222222"/>
                </a:solidFill>
                <a:latin typeface="Arial"/>
              </a:rPr>
              <a:t>Complete nationwide visibility over technical admissions; eliminates ghost seats and manual verification backlogs.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Institutions &amp; Colleges: </a:t>
            </a:r>
            <a:r>
              <a:rPr sz="950" b="0">
                <a:solidFill>
                  <a:srgbClr val="222222"/>
                </a:solidFill>
                <a:latin typeface="Arial"/>
              </a:rPr>
              <a:t>Eliminates physical documentation overhead; reduces annual student admission auditing from 3 months to 5 minutes.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Students &amp; Parents: </a:t>
            </a:r>
            <a:r>
              <a:rPr sz="950" b="0">
                <a:solidFill>
                  <a:srgbClr val="222222"/>
                </a:solidFill>
                <a:latin typeface="Arial"/>
              </a:rPr>
              <a:t>Guarantees authentic seat reservation; transparent supernumerary quota allocation protects deserving students.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Employers &amp; Verifiers: </a:t>
            </a:r>
            <a:r>
              <a:rPr sz="950" b="0">
                <a:solidFill>
                  <a:srgbClr val="222222"/>
                </a:solidFill>
                <a:latin typeface="Arial"/>
              </a:rPr>
              <a:t>Sub-second zero-trust academic verification via mobile QR scan without contacting institutional registrars.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Quantifiable Multi-Dimensional Benefits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Economic Benefit: </a:t>
            </a:r>
            <a:r>
              <a:rPr sz="950" b="0">
                <a:solidFill>
                  <a:srgbClr val="222222"/>
                </a:solidFill>
                <a:latin typeface="Arial"/>
              </a:rPr>
              <a:t>Stops ghost-seat grant diversion and illegal seat-blocking, saving crores in fraudulent scholarship reimbursements.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Social Equity: </a:t>
            </a:r>
            <a:r>
              <a:rPr sz="950" b="0">
                <a:solidFill>
                  <a:srgbClr val="222222"/>
                </a:solidFill>
                <a:latin typeface="Arial"/>
              </a:rPr>
              <a:t>Strictly safeguards affirmative action quotas (TFW 5%, EWS 10%, KM, NRI/FN 15%) from unauthorized reallocation.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NEP 2020 &amp; DPDP Alignment: </a:t>
            </a:r>
            <a:r>
              <a:rPr sz="950" b="0">
                <a:solidFill>
                  <a:srgbClr val="222222"/>
                </a:solidFill>
                <a:latin typeface="Arial"/>
              </a:rPr>
              <a:t>Full alignment with National Academic Depository (NAD), DigiLocker, and DPDP Act 2023 privacy mandates.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Environmental &amp; Operational: </a:t>
            </a:r>
            <a:r>
              <a:rPr sz="950" b="0">
                <a:solidFill>
                  <a:srgbClr val="222222"/>
                </a:solidFill>
                <a:latin typeface="Arial"/>
              </a:rPr>
              <a:t>100% paperless verification workflow eliminates courier delays and physical document falsification.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SIH Requirement 10 Compliance: </a:t>
            </a:r>
            <a:r>
              <a:rPr sz="950" b="0">
                <a:solidFill>
                  <a:srgbClr val="222222"/>
                </a:solidFill>
                <a:latin typeface="Arial"/>
              </a:rPr>
              <a:t>Built-in Degree Certificate Generator displaying Student ID alongside Masked APAAR ID and Ed25519 QR.</a:t>
            </a:r>
          </a:p>
        </p:txBody>
      </p:sp>
      <p:pic>
        <p:nvPicPr>
          <p:cNvPr id="17411" name="Picture 17410" descr="student_certificate_verifi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5074920" cy="33832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720840" y="4681728"/>
            <a:ext cx="507492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50" b="1">
                <a:solidFill>
                  <a:srgbClr val="008C6E"/>
                </a:solidFill>
                <a:latin typeface="Arial"/>
              </a:defRPr>
            </a:pPr>
            <a:r>
              <a:t>PROTOTYPE EVIDENCE &amp; LIVE VERIFICATION</a:t>
            </a:r>
          </a:p>
          <a:p>
            <a:pPr>
              <a:spcBef>
                <a:spcPts val="200"/>
              </a:spcBef>
              <a:defRPr sz="850" i="1">
                <a:solidFill>
                  <a:srgbClr val="5A5A5A"/>
                </a:solidFill>
                <a:latin typeface="Arial"/>
              </a:defRPr>
            </a:pPr>
            <a:r>
              <a:t>SIH-R10 Compliant Degree Certificate Engine (/admissions/certificate/[id]) displaying Student Roll No, Masked APAAR ID, Council Seal, and Asymmetric Ed25519 QR Code for instant offline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64592"/>
            <a:ext cx="8046720" cy="77724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RESEARCH CITATIONS, REPOSITORY &amp; LIVE EVALUATION LINKS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62179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8C6E"/>
                </a:solidFill>
                <a:latin typeface="Arial"/>
              </a:defRPr>
            </a:pPr>
            <a:r>
              <a:t>Formal Regulatory &amp; Cryptographic References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AICTE APH 2026-27: </a:t>
            </a:r>
            <a:r>
              <a:rPr sz="950" b="0">
                <a:solidFill>
                  <a:srgbClr val="222222"/>
                </a:solidFill>
                <a:latin typeface="Arial"/>
              </a:rPr>
              <a:t>Approval Process Handbook norms for sanctioned intake ceilings, supernumerary quotas, and NRI/OCI/FN rules.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NEP 2020 &amp; NAD: </a:t>
            </a:r>
            <a:r>
              <a:rPr sz="950" b="0">
                <a:solidFill>
                  <a:srgbClr val="222222"/>
                </a:solidFill>
                <a:latin typeface="Arial"/>
              </a:rPr>
              <a:t>Framework for APAAR (Automated Permanent Academic Account Registry) and Academic Bank of Credits (ABC).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IETF RFC 8032: </a:t>
            </a:r>
            <a:r>
              <a:rPr sz="950" b="0">
                <a:solidFill>
                  <a:srgbClr val="222222"/>
                </a:solidFill>
                <a:latin typeface="Arial"/>
              </a:rPr>
              <a:t>Edwards-Curve Digital Signature Algorithm (Ed25519 / Curve25519) for tamper-proof academic credentials.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DPDP Act 2023: </a:t>
            </a:r>
            <a:r>
              <a:rPr sz="950" b="0">
                <a:solidFill>
                  <a:srgbClr val="222222"/>
                </a:solidFill>
                <a:latin typeface="Arial"/>
              </a:rPr>
              <a:t>Section 4 data fiduciary mandates, purpose limitation, identifier pseudonymization, and student consent mechanisms.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NIST SP 800-107 &amp; Verhoeff: </a:t>
            </a:r>
            <a:r>
              <a:rPr sz="950" b="0">
                <a:solidFill>
                  <a:srgbClr val="222222"/>
                </a:solidFill>
                <a:latin typeface="Arial"/>
              </a:rPr>
              <a:t>Permutation algorithms on Dihedral Group D5 for checksums and sequential SHA-256 cryptographic hash-chains.</a:t>
            </a:r>
          </a:p>
          <a:p>
            <a:pPr>
              <a:spcBef>
                <a:spcPts val="700"/>
              </a:spcBef>
              <a:defRPr sz="1100" b="1">
                <a:solidFill>
                  <a:srgbClr val="008C6E"/>
                </a:solidFill>
                <a:latin typeface="Arial"/>
              </a:defRPr>
            </a:pPr>
            <a:r>
              <a:t>Live Deployment, Source Code &amp; Verification Links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Open-Source GitHub Repo: </a:t>
            </a:r>
            <a:r>
              <a:rPr sz="950" b="0">
                <a:solidFill>
                  <a:srgbClr val="222222"/>
                </a:solidFill>
                <a:latin typeface="Arial"/>
              </a:rPr>
              <a:t>https://github.com/naveeshpcbin/APAAR-ID-BASED-SYSTEM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Live Hosted Platform: </a:t>
            </a:r>
            <a:r>
              <a:rPr sz="950" b="0">
                <a:solidFill>
                  <a:srgbClr val="222222"/>
                </a:solidFill>
                <a:latin typeface="Arial"/>
              </a:rPr>
              <a:t>https://pramaan-aicte.yourdomain.com  (Paste custom domain here)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Interactive Swagger Docs: </a:t>
            </a:r>
            <a:r>
              <a:rPr sz="950" b="0">
                <a:solidFill>
                  <a:srgbClr val="222222"/>
                </a:solidFill>
                <a:latin typeface="Arial"/>
              </a:rPr>
              <a:t>https://pramaan-backend.onrender.com/docs  (FastAPI OpenAPI 3.1)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Supabase Cloud Database: </a:t>
            </a:r>
            <a:r>
              <a:rPr sz="950" b="0">
                <a:solidFill>
                  <a:srgbClr val="222222"/>
                </a:solidFill>
                <a:latin typeface="Arial"/>
              </a:rPr>
              <a:t>Ref: xvuqedqfdeybryvbablt  (PostgreSQL Pooler aws-0-ap-south-1)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222222"/>
                </a:solidFill>
                <a:latin typeface="Arial"/>
              </a:rPr>
              <a:t>•  Evaluator Quick Credentials: </a:t>
            </a:r>
            <a:r>
              <a:rPr sz="950" b="0">
                <a:solidFill>
                  <a:srgbClr val="222222"/>
                </a:solidFill>
                <a:latin typeface="Arial"/>
              </a:rPr>
              <a:t>Central Admin: aicte.admin@pramaan.gov.in  |  Password: Admin@12345</a:t>
            </a:r>
          </a:p>
        </p:txBody>
      </p:sp>
      <p:pic>
        <p:nvPicPr>
          <p:cNvPr id="17411" name="Picture 17410" descr="audit_ledger_verifi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5074920" cy="33832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720840" y="4681728"/>
            <a:ext cx="507492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50" b="1">
                <a:solidFill>
                  <a:srgbClr val="008C6E"/>
                </a:solidFill>
                <a:latin typeface="Arial"/>
              </a:defRPr>
            </a:pPr>
            <a:r>
              <a:t>PROTOTYPE EVIDENCE &amp; LIVE VERIFICATION</a:t>
            </a:r>
          </a:p>
          <a:p>
            <a:pPr>
              <a:spcBef>
                <a:spcPts val="200"/>
              </a:spcBef>
              <a:defRPr sz="850" i="1">
                <a:solidFill>
                  <a:srgbClr val="5A5A5A"/>
                </a:solidFill>
                <a:latin typeface="Arial"/>
              </a:defRPr>
            </a:pPr>
            <a:r>
              <a:t>Tamper-Evident SHA-256 Cryptographic Audit Ledger (/audit) verifying unbroken hash-chain continuity from Genesis Block 0 across all admissions, batch commits, and review decisions.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Rohith Mahendran</cp:lastModifiedBy>
  <cp:revision>149</cp:revision>
  <dcterms:created xsi:type="dcterms:W3CDTF">2013-12-12T18:46:50Z</dcterms:created>
  <dcterms:modified xsi:type="dcterms:W3CDTF">2026-10-23T14:08:40Z</dcterms:modified>
  <cp:category/>
</cp:coreProperties>
</file>